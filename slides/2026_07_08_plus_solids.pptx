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8" r:id="rId2"/>
    <p:sldId id="417" r:id="rId3"/>
    <p:sldId id="412" r:id="rId4"/>
    <p:sldId id="425" r:id="rId5"/>
    <p:sldId id="426" r:id="rId6"/>
    <p:sldId id="438" r:id="rId7"/>
    <p:sldId id="439" r:id="rId8"/>
    <p:sldId id="442" r:id="rId9"/>
    <p:sldId id="443" r:id="rId10"/>
    <p:sldId id="445" r:id="rId11"/>
    <p:sldId id="444" r:id="rId12"/>
    <p:sldId id="446" r:id="rId13"/>
    <p:sldId id="44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C"/>
    <a:srgbClr val="FF3FE8"/>
    <a:srgbClr val="41AF75"/>
    <a:srgbClr val="FF9900"/>
    <a:srgbClr val="FF3FC4"/>
    <a:srgbClr val="1B00C0"/>
    <a:srgbClr val="FF1D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75" autoAdjust="0"/>
    <p:restoredTop sz="94664" autoAdjust="0"/>
  </p:normalViewPr>
  <p:slideViewPr>
    <p:cSldViewPr snapToGrid="0">
      <p:cViewPr varScale="1">
        <p:scale>
          <a:sx n="47" d="100"/>
          <a:sy n="47" d="100"/>
        </p:scale>
        <p:origin x="1070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4CA08-2CF1-435C-AA5E-4E6BD3E1FB6E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90A4E-1575-4F7E-A4E6-9AF25B860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260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258B2-5831-C52E-DA1D-047594AB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057400"/>
            <a:ext cx="10972800" cy="646331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9C062D-B497-FC11-32CE-E02BEED2C6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38101"/>
            <a:ext cx="297180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0"/>
              </a:spcBef>
              <a:buNone/>
              <a:defRPr sz="2400"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Meeting Type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656A2C-16B3-564C-9186-047814596B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3976301"/>
            <a:ext cx="297180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0"/>
              </a:spcBef>
              <a:buNone/>
              <a:defRPr sz="2400"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Name(s)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DAA9724-1D44-5C5E-8EB4-D9C71958D8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715000"/>
            <a:ext cx="297180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0"/>
              </a:spcBef>
              <a:buNone/>
              <a:defRPr sz="2400" i="1"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Affiliation(s)</a:t>
            </a:r>
          </a:p>
        </p:txBody>
      </p:sp>
    </p:spTree>
    <p:extLst>
      <p:ext uri="{BB962C8B-B14F-4D97-AF65-F5344CB8AC3E}">
        <p14:creationId xmlns:p14="http://schemas.microsoft.com/office/powerpoint/2010/main" val="1695098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D4FBD-9CBD-2531-B9A3-F0FCA79D94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C9141-3FAE-4C1A-A7DB-6513AA4F13ED}" type="slidenum">
              <a:rPr lang="en-US" smtClean="0"/>
              <a:pPr/>
              <a:t>‹#›</a:t>
            </a:fld>
            <a:endParaRPr lang="en-US" dirty="0"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EEACA-F0EA-D2EF-4EF3-466F6AB364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8000" y="0"/>
            <a:ext cx="1143000" cy="115865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C66CED-D8E8-C032-45BF-CB018B58C958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600" y="1219200"/>
            <a:ext cx="1098126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6CA08B3-67AF-8C4E-09E8-46060CC2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24145"/>
            <a:ext cx="10972800" cy="784830"/>
          </a:xfrm>
          <a:prstGeom prst="rect">
            <a:avLst/>
          </a:prstGeom>
        </p:spPr>
        <p:txBody>
          <a:bodyPr vert="horz" wrap="square" lIns="0" tIns="45720" rIns="0" bIns="45720" rtlCol="0" anchor="b">
            <a:spAutoFit/>
          </a:bodyPr>
          <a:lstStyle/>
          <a:p>
            <a:r>
              <a:rPr lang="en-US" dirty="0"/>
              <a:t>Line 1</a:t>
            </a:r>
            <a:br>
              <a:rPr lang="el-GR" dirty="0"/>
            </a:br>
            <a:r>
              <a:rPr lang="en-US" dirty="0"/>
              <a:t>Line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3EBA97-5B94-E99D-249A-FFFCA38B22C0}"/>
              </a:ext>
            </a:extLst>
          </p:cNvPr>
          <p:cNvSpPr txBox="1"/>
          <p:nvPr userDrawn="1"/>
        </p:nvSpPr>
        <p:spPr>
          <a:xfrm>
            <a:off x="-457200" y="6324600"/>
            <a:ext cx="8335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dirty="0">
                <a:latin typeface="Bahnschrift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592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32344"/>
            <a:ext cx="10960100" cy="535531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latin typeface="Bahnschrift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C9141-3FAE-4C1A-A7DB-6513AA4F13ED}" type="slidenum">
              <a:rPr lang="en-US" smtClean="0"/>
              <a:pPr/>
              <a:t>‹#›</a:t>
            </a:fld>
            <a:endParaRPr lang="en-US">
              <a:latin typeface="Bahnschrift" panose="020B0502040204020203" pitchFamily="34" charset="0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F9C062D-B497-FC11-32CE-E02BEED2C6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38101"/>
            <a:ext cx="10960100" cy="457200"/>
          </a:xfrm>
          <a:prstGeom prst="rect">
            <a:avLst/>
          </a:prstGeom>
        </p:spPr>
        <p:txBody>
          <a:bodyPr lIns="0" rIns="0"/>
          <a:lstStyle>
            <a:lvl1pPr marL="0" indent="0" algn="ctr">
              <a:spcBef>
                <a:spcPts val="0"/>
              </a:spcBef>
              <a:buNone/>
              <a:defRPr sz="2800"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80103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E89763-1055-7A04-716E-1DCB62E11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24145"/>
            <a:ext cx="10972800" cy="784830"/>
          </a:xfrm>
          <a:prstGeom prst="rect">
            <a:avLst/>
          </a:prstGeom>
        </p:spPr>
        <p:txBody>
          <a:bodyPr vert="horz" wrap="square" lIns="0" tIns="45720" rIns="0" bIns="45720" rtlCol="0" anchor="b">
            <a:spAutoFit/>
          </a:bodyPr>
          <a:lstStyle/>
          <a:p>
            <a:r>
              <a:rPr lang="en-US" dirty="0"/>
              <a:t>Line 1</a:t>
            </a:r>
            <a:br>
              <a:rPr lang="el-GR" dirty="0"/>
            </a:br>
            <a:r>
              <a:rPr lang="en-US" dirty="0"/>
              <a:t>Line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1AAFA-AE46-6A02-4E58-B58AA10D9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Bahnschrift" panose="020B0502040204020203" pitchFamily="34" charset="0"/>
              </a:defRPr>
            </a:lvl1pPr>
          </a:lstStyle>
          <a:p>
            <a:endParaRPr lang="en-US">
              <a:latin typeface="Bahnschrift" panose="020B0502040204020203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9D4C4-F0C4-310E-A11F-AC1B978A6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Bahnschrift" panose="020B0502040204020203" pitchFamily="34" charset="0"/>
              </a:defRPr>
            </a:lvl1pPr>
          </a:lstStyle>
          <a:p>
            <a:fld id="{720C9141-3FAE-4C1A-A7DB-6513AA4F13ED}" type="slidenum">
              <a:rPr lang="en-US" smtClean="0"/>
              <a:pPr/>
              <a:t>‹#›</a:t>
            </a:fld>
            <a:endParaRPr lang="en-US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68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b="1" kern="1200">
          <a:solidFill>
            <a:schemeClr val="tx1"/>
          </a:solidFill>
          <a:latin typeface="Bahnschrift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6C37EB-A4A0-CE60-9849-E5A884F59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981200"/>
            <a:ext cx="10972800" cy="1200329"/>
          </a:xfrm>
        </p:spPr>
        <p:txBody>
          <a:bodyPr/>
          <a:lstStyle/>
          <a:p>
            <a:r>
              <a:rPr lang="en-US" dirty="0"/>
              <a:t>A hands-on introduction to molecular dynamics with LAMMPS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D38243-DD40-1501-FDB8-685F0A79A0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505200"/>
            <a:ext cx="8153400" cy="457200"/>
          </a:xfrm>
        </p:spPr>
        <p:txBody>
          <a:bodyPr/>
          <a:lstStyle/>
          <a:p>
            <a:pPr>
              <a:tabLst>
                <a:tab pos="974725" algn="l"/>
              </a:tabLst>
            </a:pPr>
            <a:r>
              <a:rPr lang="en-US" dirty="0"/>
              <a:t>Place 	: Internal</a:t>
            </a:r>
          </a:p>
          <a:p>
            <a:pPr>
              <a:tabLst>
                <a:tab pos="974725" algn="l"/>
              </a:tabLst>
            </a:pPr>
            <a:r>
              <a:rPr lang="en-US" dirty="0"/>
              <a:t>Date 	: 2026, 8 July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AE7EE3-BB90-7B8E-141C-5075CF4B02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4648200"/>
            <a:ext cx="6553200" cy="595700"/>
          </a:xfrm>
        </p:spPr>
        <p:txBody>
          <a:bodyPr/>
          <a:lstStyle/>
          <a:p>
            <a:r>
              <a:rPr lang="en-US" sz="3400" dirty="0"/>
              <a:t>Dr. Aristotelis P. Sgouros</a:t>
            </a:r>
          </a:p>
          <a:p>
            <a:endParaRPr lang="en-US" sz="3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76D013-F18B-B5C0-F949-D0880B1E7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5562600"/>
            <a:ext cx="8305800" cy="838200"/>
          </a:xfrm>
        </p:spPr>
        <p:txBody>
          <a:bodyPr/>
          <a:lstStyle/>
          <a:p>
            <a:r>
              <a:rPr lang="en-US" sz="2000" dirty="0"/>
              <a:t>MPRIME LAB @</a:t>
            </a:r>
          </a:p>
          <a:p>
            <a:r>
              <a:rPr lang="en-US" sz="2000" dirty="0"/>
              <a:t>Theoretical and Physical Chemistry Institute</a:t>
            </a:r>
            <a:r>
              <a:rPr lang="el-GR" sz="2000" dirty="0"/>
              <a:t> (</a:t>
            </a:r>
            <a:r>
              <a:rPr lang="en-US" sz="2000" dirty="0"/>
              <a:t>TPCI),</a:t>
            </a:r>
            <a:br>
              <a:rPr lang="en-US" sz="2000" dirty="0"/>
            </a:br>
            <a:r>
              <a:rPr lang="en-US" sz="2000" dirty="0"/>
              <a:t>National Hellenic Research Foundation (NHRF)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E83285-6D6E-1E3F-9AB9-C4FB5CB95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400"/>
            <a:ext cx="4505334" cy="1152244"/>
          </a:xfrm>
          <a:prstGeom prst="rect">
            <a:avLst/>
          </a:prstGeom>
        </p:spPr>
      </p:pic>
      <p:pic>
        <p:nvPicPr>
          <p:cNvPr id="1026" name="Picture 2" descr="Technical University of Athens – NTUA ...">
            <a:extLst>
              <a:ext uri="{FF2B5EF4-FFF2-40B4-BE49-F238E27FC236}">
                <a16:creationId xmlns:a16="http://schemas.microsoft.com/office/drawing/2014/main" id="{C96DB0DD-99A5-D3D3-D96B-09E1EDDCE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228600"/>
            <a:ext cx="281940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989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9ABEA8-38B3-66F3-57F8-B83D9580AB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C9141-3FAE-4C1A-A7DB-6513AA4F13ED}" type="slidenum">
              <a:rPr lang="en-US" smtClean="0"/>
              <a:pPr/>
              <a:t>2</a:t>
            </a:fld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C56C3F-3094-202E-A29E-45CD69440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70393"/>
            <a:ext cx="10972800" cy="438582"/>
          </a:xfrm>
        </p:spPr>
        <p:txBody>
          <a:bodyPr/>
          <a:lstStyle/>
          <a:p>
            <a:r>
              <a:rPr lang="en-US" dirty="0"/>
              <a:t>List of examples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4A2E8-6BF8-0BF7-2790-381A8050BF6E}"/>
              </a:ext>
            </a:extLst>
          </p:cNvPr>
          <p:cNvSpPr txBox="1"/>
          <p:nvPr/>
        </p:nvSpPr>
        <p:spPr>
          <a:xfrm>
            <a:off x="533400" y="1334926"/>
            <a:ext cx="109727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08 — ++</a:t>
            </a:r>
            <a:br>
              <a:rPr lang="en-US" sz="2000" dirty="0"/>
            </a:br>
            <a:r>
              <a:rPr lang="en-US" sz="2000" dirty="0"/>
              <a:t>++</a:t>
            </a:r>
          </a:p>
        </p:txBody>
      </p:sp>
    </p:spTree>
    <p:extLst>
      <p:ext uri="{BB962C8B-B14F-4D97-AF65-F5344CB8AC3E}">
        <p14:creationId xmlns:p14="http://schemas.microsoft.com/office/powerpoint/2010/main" val="1929579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B10184-9AF9-7AAB-D74C-875F91BCF1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C9141-3FAE-4C1A-A7DB-6513AA4F13ED}" type="slidenum">
              <a:rPr lang="en-US" smtClean="0"/>
              <a:pPr/>
              <a:t>3</a:t>
            </a:fld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A0729C-15AB-6F20-6450-DA0B75D78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70393"/>
            <a:ext cx="10972800" cy="438582"/>
          </a:xfrm>
        </p:spPr>
        <p:txBody>
          <a:bodyPr/>
          <a:lstStyle/>
          <a:p>
            <a:r>
              <a:rPr lang="en-US" dirty="0"/>
              <a:t>Example 08 – 3D Solid: Compute XRD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53716-845E-5E7F-7905-B073E992990D}"/>
              </a:ext>
            </a:extLst>
          </p:cNvPr>
          <p:cNvSpPr txBox="1"/>
          <p:nvPr/>
        </p:nvSpPr>
        <p:spPr>
          <a:xfrm>
            <a:off x="609600" y="1371600"/>
            <a:ext cx="10972800" cy="30469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200" dirty="0"/>
              <a:t>This example demonstrates how to calculate the XRD of a NaCl crystal.</a:t>
            </a:r>
          </a:p>
          <a:p>
            <a:endParaRPr lang="en-US" sz="2200" dirty="0"/>
          </a:p>
          <a:p>
            <a:r>
              <a:rPr lang="en-US" sz="2200" b="1" dirty="0"/>
              <a:t>System: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200" dirty="0"/>
              <a:t>NaCl crystal with 10x10x10 cells</a:t>
            </a:r>
          </a:p>
          <a:p>
            <a:endParaRPr lang="en-US" sz="2200" dirty="0"/>
          </a:p>
          <a:p>
            <a:r>
              <a:rPr lang="en-US" sz="2200" b="1" dirty="0"/>
              <a:t>Learning goals: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Calculate XRD on-the-fly (simulated radiation method)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Calculate XRD through Fourier transforming</a:t>
            </a:r>
            <a:br>
              <a:rPr lang="en-US" sz="2200" dirty="0"/>
            </a:br>
            <a:r>
              <a:rPr lang="en-US" sz="2200" dirty="0"/>
              <a:t>the partial pair correlation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D908F-3D2F-1727-F0EC-8D6C3F5C49B8}"/>
              </a:ext>
            </a:extLst>
          </p:cNvPr>
          <p:cNvSpPr txBox="1"/>
          <p:nvPr/>
        </p:nvSpPr>
        <p:spPr>
          <a:xfrm>
            <a:off x="8610600" y="6324600"/>
            <a:ext cx="169116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i="1" dirty="0">
                <a:latin typeface="Bahnschrift" panose="020B0502040204020203" pitchFamily="34" charset="0"/>
              </a:rPr>
              <a:t>NaCl crystal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D7A7E8-749E-9031-D637-54AD91B1E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2895600"/>
            <a:ext cx="3292125" cy="312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84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40034-AA7B-95A4-9BB2-EEE97C121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1A87FD8-2517-7762-CD5C-324ADE7FD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69" y="2688264"/>
            <a:ext cx="215679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57010D-E0F9-9D86-9A4E-ABFEB35E068E}"/>
              </a:ext>
            </a:extLst>
          </p:cNvPr>
          <p:cNvSpPr txBox="1"/>
          <p:nvPr/>
        </p:nvSpPr>
        <p:spPr>
          <a:xfrm>
            <a:off x="609600" y="1371600"/>
            <a:ext cx="10972800" cy="54168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1031875">
              <a:tabLst>
                <a:tab pos="396875" algn="l"/>
                <a:tab pos="741363" algn="l"/>
              </a:tabLst>
            </a:pPr>
            <a:r>
              <a:rPr lang="en-US" sz="2200" dirty="0"/>
              <a:t>Coherent scattering intensity:</a:t>
            </a:r>
          </a:p>
          <a:p>
            <a:pPr defTabSz="1031875">
              <a:tabLst>
                <a:tab pos="396875" algn="l"/>
                <a:tab pos="741363" algn="l"/>
              </a:tabLst>
            </a:pPr>
            <a:endParaRPr lang="en-US" sz="2200" dirty="0"/>
          </a:p>
          <a:p>
            <a:pPr defTabSz="1031875">
              <a:tabLst>
                <a:tab pos="396875" algn="l"/>
                <a:tab pos="741363" algn="l"/>
              </a:tabLst>
            </a:pPr>
            <a:endParaRPr lang="en-US" sz="2200" dirty="0"/>
          </a:p>
          <a:p>
            <a:pPr defTabSz="1031875">
              <a:tabLst>
                <a:tab pos="396875" algn="l"/>
                <a:tab pos="741363" algn="l"/>
              </a:tabLst>
            </a:pPr>
            <a:r>
              <a:rPr lang="en-US" sz="2200" dirty="0"/>
              <a:t>Structure factor:</a:t>
            </a:r>
          </a:p>
          <a:p>
            <a:pPr defTabSz="1031875">
              <a:tabLst>
                <a:tab pos="396875" algn="l"/>
                <a:tab pos="741363" algn="l"/>
              </a:tabLst>
            </a:pPr>
            <a:endParaRPr lang="en-US" sz="2200" dirty="0"/>
          </a:p>
          <a:p>
            <a:pPr defTabSz="1031875">
              <a:tabLst>
                <a:tab pos="396875" algn="l"/>
                <a:tab pos="741363" algn="l"/>
              </a:tabLst>
            </a:pPr>
            <a:endParaRPr lang="en-US" sz="2200" dirty="0"/>
          </a:p>
          <a:p>
            <a:pPr defTabSz="1031875">
              <a:tabLst>
                <a:tab pos="396875" algn="l"/>
                <a:tab pos="741363" algn="l"/>
              </a:tabLst>
            </a:pPr>
            <a:r>
              <a:rPr lang="en-US" sz="2200" dirty="0"/>
              <a:t>where,</a:t>
            </a:r>
          </a:p>
          <a:p>
            <a:pPr defTabSz="1031875">
              <a:tabLst>
                <a:tab pos="396875" algn="l"/>
                <a:tab pos="741363" algn="l"/>
              </a:tabLst>
            </a:pPr>
            <a:r>
              <a:rPr lang="en-US" sz="2200" b="1" dirty="0"/>
              <a:t>	r	</a:t>
            </a:r>
            <a:r>
              <a:rPr lang="en-US" sz="2200" dirty="0"/>
              <a:t>:	atomic coordinate</a:t>
            </a:r>
          </a:p>
          <a:p>
            <a:pPr defTabSz="1031875">
              <a:tabLst>
                <a:tab pos="404813" algn="l"/>
                <a:tab pos="744538" algn="l"/>
              </a:tabLst>
            </a:pPr>
            <a:r>
              <a:rPr lang="en-US" sz="2200" b="1" dirty="0"/>
              <a:t>	q	</a:t>
            </a:r>
            <a:r>
              <a:rPr lang="en-US" sz="2200" dirty="0"/>
              <a:t>:	scattering wave vector</a:t>
            </a:r>
          </a:p>
          <a:p>
            <a:pPr defTabSz="1031875">
              <a:tabLst>
                <a:tab pos="404813" algn="l"/>
                <a:tab pos="744538" algn="l"/>
              </a:tabLst>
            </a:pPr>
            <a:r>
              <a:rPr lang="en-US" sz="2200" dirty="0"/>
              <a:t>	</a:t>
            </a:r>
            <a:r>
              <a:rPr lang="en-US" sz="2200" i="1" dirty="0"/>
              <a:t>f</a:t>
            </a:r>
            <a:r>
              <a:rPr lang="en-US" sz="2200" i="1" baseline="-25000" dirty="0"/>
              <a:t>i</a:t>
            </a:r>
            <a:r>
              <a:rPr lang="en-US" sz="2200" dirty="0"/>
              <a:t>	:	form factor of component </a:t>
            </a:r>
            <a:r>
              <a:rPr lang="en-US" sz="2200" i="1" dirty="0" err="1"/>
              <a:t>i</a:t>
            </a:r>
            <a:endParaRPr lang="en-US" sz="2200" i="1" dirty="0"/>
          </a:p>
          <a:p>
            <a:pPr defTabSz="1031875">
              <a:tabLst>
                <a:tab pos="404813" algn="l"/>
                <a:tab pos="744538" algn="l"/>
              </a:tabLst>
            </a:pPr>
            <a:endParaRPr lang="en-US" sz="2200" dirty="0"/>
          </a:p>
          <a:p>
            <a:pPr defTabSz="1031875">
              <a:tabLst>
                <a:tab pos="404813" algn="l"/>
                <a:tab pos="744538" algn="l"/>
              </a:tabLst>
            </a:pPr>
            <a:r>
              <a:rPr lang="en-US" sz="2200" dirty="0"/>
              <a:t>Relation between </a:t>
            </a:r>
            <a:r>
              <a:rPr lang="en-US" sz="2200" i="1" dirty="0"/>
              <a:t>q</a:t>
            </a:r>
            <a:r>
              <a:rPr lang="en-US" sz="2200" dirty="0"/>
              <a:t> = |</a:t>
            </a:r>
            <a:r>
              <a:rPr lang="en-US" sz="2200" b="1" dirty="0"/>
              <a:t>q</a:t>
            </a:r>
            <a:r>
              <a:rPr lang="en-US" sz="2200" dirty="0"/>
              <a:t>| and incidence angle </a:t>
            </a:r>
            <a:r>
              <a:rPr lang="el-GR" sz="2200" i="1" dirty="0"/>
              <a:t>θ</a:t>
            </a:r>
            <a:r>
              <a:rPr lang="en-US" sz="2200" dirty="0"/>
              <a:t>:</a:t>
            </a:r>
          </a:p>
          <a:p>
            <a:pPr defTabSz="1031875">
              <a:tabLst>
                <a:tab pos="404813" algn="l"/>
                <a:tab pos="744538" algn="l"/>
              </a:tabLst>
            </a:pPr>
            <a:endParaRPr lang="en-US" sz="2200" dirty="0"/>
          </a:p>
          <a:p>
            <a:pPr defTabSz="1031875">
              <a:tabLst>
                <a:tab pos="404813" algn="l"/>
                <a:tab pos="744538" algn="l"/>
              </a:tabLst>
            </a:pPr>
            <a:endParaRPr lang="en-US" sz="2200" dirty="0"/>
          </a:p>
          <a:p>
            <a:pPr defTabSz="1031875">
              <a:tabLst>
                <a:tab pos="404813" algn="l"/>
                <a:tab pos="744538" algn="l"/>
              </a:tabLst>
            </a:pPr>
            <a:endParaRPr lang="en-US" sz="2200" dirty="0"/>
          </a:p>
          <a:p>
            <a:pPr defTabSz="1031875">
              <a:tabLst>
                <a:tab pos="404813" algn="l"/>
                <a:tab pos="744538" algn="l"/>
              </a:tabLst>
            </a:pPr>
            <a:r>
              <a:rPr lang="en-US" sz="2200" i="1" dirty="0"/>
              <a:t>	</a:t>
            </a:r>
            <a:r>
              <a:rPr lang="el-GR" sz="2000" i="1" dirty="0"/>
              <a:t>λ</a:t>
            </a:r>
            <a:r>
              <a:rPr lang="en-US" sz="2000" baseline="-25000" dirty="0" err="1"/>
              <a:t>inc</a:t>
            </a:r>
            <a:r>
              <a:rPr lang="en-US" sz="2200" baseline="-25000" dirty="0"/>
              <a:t>	</a:t>
            </a:r>
            <a:r>
              <a:rPr lang="en-US" sz="2200" dirty="0"/>
              <a:t>:</a:t>
            </a:r>
            <a:r>
              <a:rPr lang="en-US" sz="2200" baseline="-25000" dirty="0"/>
              <a:t>	</a:t>
            </a:r>
            <a:r>
              <a:rPr lang="en-US" sz="2200" dirty="0"/>
              <a:t>incidence beam wavelength; usually, </a:t>
            </a:r>
            <a:r>
              <a:rPr lang="el-GR" sz="2400" i="1" dirty="0"/>
              <a:t>λ</a:t>
            </a:r>
            <a:r>
              <a:rPr lang="en-US" sz="2400" baseline="-25000" dirty="0" err="1"/>
              <a:t>inc</a:t>
            </a:r>
            <a:r>
              <a:rPr lang="en-US" sz="2400" dirty="0"/>
              <a:t> = 1.5406 </a:t>
            </a:r>
            <a:r>
              <a:rPr lang="en-US" sz="2400" dirty="0">
                <a:cs typeface="Courier New" panose="02070309020205020404" pitchFamily="49" charset="0"/>
              </a:rPr>
              <a:t>Å (Cu Ka)</a:t>
            </a:r>
            <a:r>
              <a:rPr lang="en-US" sz="2200" dirty="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CC569-D9C4-1EA7-2352-039D95FB80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39200" y="6325870"/>
            <a:ext cx="2743200" cy="365125"/>
          </a:xfrm>
        </p:spPr>
        <p:txBody>
          <a:bodyPr/>
          <a:lstStyle/>
          <a:p>
            <a:fld id="{720C9141-3FAE-4C1A-A7DB-6513AA4F13ED}" type="slidenum">
              <a:rPr lang="en-US" smtClean="0"/>
              <a:pPr/>
              <a:t>4</a:t>
            </a:fld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4F6DF7-BC1C-76A4-12AD-A24960FCE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70393"/>
            <a:ext cx="10972800" cy="438582"/>
          </a:xfrm>
        </p:spPr>
        <p:txBody>
          <a:bodyPr/>
          <a:lstStyle/>
          <a:p>
            <a:r>
              <a:rPr lang="en-US" dirty="0"/>
              <a:t>Example 08 – 3D Solid: Compute XRD: Simulated radiation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7181C7-2E80-0672-A982-F41D0F1AD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37414"/>
            <a:ext cx="2167943" cy="76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4E5368-F592-073A-ADEA-BDAF61C51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65" y="5381058"/>
            <a:ext cx="1600200" cy="8293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0000000-0008-0000-0300-00000A000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971" y="3571240"/>
            <a:ext cx="3837869" cy="2361211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DE251274-67E5-71B9-CF76-D3454A397B0E}"/>
              </a:ext>
            </a:extLst>
          </p:cNvPr>
          <p:cNvGrpSpPr/>
          <p:nvPr/>
        </p:nvGrpSpPr>
        <p:grpSpPr>
          <a:xfrm>
            <a:off x="8059491" y="1605280"/>
            <a:ext cx="2600960" cy="3947160"/>
            <a:chOff x="8059491" y="2352040"/>
            <a:chExt cx="2600960" cy="32004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2E7D2F0-603F-713E-88DF-C6B0C364FDD0}"/>
                </a:ext>
              </a:extLst>
            </p:cNvPr>
            <p:cNvCxnSpPr/>
            <p:nvPr/>
          </p:nvCxnSpPr>
          <p:spPr>
            <a:xfrm flipV="1">
              <a:off x="10660451" y="2352040"/>
              <a:ext cx="0" cy="3200400"/>
            </a:xfrm>
            <a:prstGeom prst="line">
              <a:avLst/>
            </a:prstGeom>
            <a:ln>
              <a:solidFill>
                <a:schemeClr val="bg1">
                  <a:lumMod val="50000"/>
                  <a:alpha val="49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BF99A29-D1C8-5B9A-B140-57C0C51925B1}"/>
                </a:ext>
              </a:extLst>
            </p:cNvPr>
            <p:cNvCxnSpPr/>
            <p:nvPr/>
          </p:nvCxnSpPr>
          <p:spPr>
            <a:xfrm flipV="1">
              <a:off x="10264211" y="2352040"/>
              <a:ext cx="0" cy="3200400"/>
            </a:xfrm>
            <a:prstGeom prst="line">
              <a:avLst/>
            </a:prstGeom>
            <a:ln>
              <a:solidFill>
                <a:schemeClr val="bg1">
                  <a:lumMod val="50000"/>
                  <a:alpha val="49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C158477-75D3-922E-6191-50868FA575A2}"/>
                </a:ext>
              </a:extLst>
            </p:cNvPr>
            <p:cNvCxnSpPr/>
            <p:nvPr/>
          </p:nvCxnSpPr>
          <p:spPr>
            <a:xfrm flipV="1">
              <a:off x="9857811" y="2352040"/>
              <a:ext cx="0" cy="3200400"/>
            </a:xfrm>
            <a:prstGeom prst="line">
              <a:avLst/>
            </a:prstGeom>
            <a:ln>
              <a:solidFill>
                <a:schemeClr val="bg1">
                  <a:lumMod val="50000"/>
                  <a:alpha val="49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53C6CA9-0A76-1FE0-BFAC-A9F41A161273}"/>
                </a:ext>
              </a:extLst>
            </p:cNvPr>
            <p:cNvCxnSpPr/>
            <p:nvPr/>
          </p:nvCxnSpPr>
          <p:spPr>
            <a:xfrm flipV="1">
              <a:off x="9410771" y="2352040"/>
              <a:ext cx="0" cy="3200400"/>
            </a:xfrm>
            <a:prstGeom prst="line">
              <a:avLst/>
            </a:prstGeom>
            <a:ln>
              <a:solidFill>
                <a:schemeClr val="bg1">
                  <a:lumMod val="50000"/>
                  <a:alpha val="49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4F69AA-600D-8F5D-F5F4-447A12F1B148}"/>
                </a:ext>
              </a:extLst>
            </p:cNvPr>
            <p:cNvCxnSpPr/>
            <p:nvPr/>
          </p:nvCxnSpPr>
          <p:spPr>
            <a:xfrm flipV="1">
              <a:off x="8902771" y="2352040"/>
              <a:ext cx="0" cy="3200400"/>
            </a:xfrm>
            <a:prstGeom prst="line">
              <a:avLst/>
            </a:prstGeom>
            <a:ln>
              <a:solidFill>
                <a:schemeClr val="bg1">
                  <a:lumMod val="50000"/>
                  <a:alpha val="49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8710DD6-042F-BB23-22DB-C44089BB598F}"/>
                </a:ext>
              </a:extLst>
            </p:cNvPr>
            <p:cNvCxnSpPr/>
            <p:nvPr/>
          </p:nvCxnSpPr>
          <p:spPr>
            <a:xfrm flipV="1">
              <a:off x="8262691" y="2352040"/>
              <a:ext cx="0" cy="3200400"/>
            </a:xfrm>
            <a:prstGeom prst="line">
              <a:avLst/>
            </a:prstGeom>
            <a:ln>
              <a:solidFill>
                <a:schemeClr val="bg1">
                  <a:lumMod val="50000"/>
                  <a:alpha val="49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EA692A6-E5AD-51C0-FE96-9EEA763E15D2}"/>
                </a:ext>
              </a:extLst>
            </p:cNvPr>
            <p:cNvCxnSpPr/>
            <p:nvPr/>
          </p:nvCxnSpPr>
          <p:spPr>
            <a:xfrm flipV="1">
              <a:off x="8059491" y="2352040"/>
              <a:ext cx="0" cy="3200400"/>
            </a:xfrm>
            <a:prstGeom prst="line">
              <a:avLst/>
            </a:prstGeom>
            <a:ln>
              <a:solidFill>
                <a:schemeClr val="bg1">
                  <a:lumMod val="50000"/>
                  <a:alpha val="49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C211A1FA-24E7-DE48-5CBC-B43554C73D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4372" y="1609252"/>
            <a:ext cx="5858508" cy="21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639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61F99-1173-40CC-9A7C-67E6BD4EB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D349CA-2388-2C7F-0387-5F81D0B0D1ED}"/>
              </a:ext>
            </a:extLst>
          </p:cNvPr>
          <p:cNvSpPr txBox="1"/>
          <p:nvPr/>
        </p:nvSpPr>
        <p:spPr>
          <a:xfrm>
            <a:off x="609600" y="1371600"/>
            <a:ext cx="10972800" cy="372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74725">
              <a:tabLst>
                <a:tab pos="396875" algn="l"/>
                <a:tab pos="741363" algn="l"/>
              </a:tabLst>
            </a:pPr>
            <a:r>
              <a:rPr lang="en-US" sz="2200" dirty="0"/>
              <a:t>Coherent scattering intensity:</a:t>
            </a:r>
          </a:p>
          <a:p>
            <a:pPr defTabSz="974725">
              <a:tabLst>
                <a:tab pos="396875" algn="l"/>
                <a:tab pos="741363" algn="l"/>
              </a:tabLst>
            </a:pPr>
            <a:endParaRPr lang="en-US" sz="2200" dirty="0"/>
          </a:p>
          <a:p>
            <a:pPr defTabSz="974725">
              <a:tabLst>
                <a:tab pos="396875" algn="l"/>
                <a:tab pos="741363" algn="l"/>
              </a:tabLst>
            </a:pPr>
            <a:endParaRPr lang="en-US" sz="2200" dirty="0"/>
          </a:p>
          <a:p>
            <a:pPr defTabSz="974725">
              <a:tabLst>
                <a:tab pos="396875" algn="l"/>
                <a:tab pos="741363" algn="l"/>
              </a:tabLst>
            </a:pPr>
            <a:endParaRPr lang="en-US" sz="2200" dirty="0"/>
          </a:p>
          <a:p>
            <a:pPr defTabSz="974725">
              <a:tabLst>
                <a:tab pos="396875" algn="l"/>
                <a:tab pos="741363" algn="l"/>
              </a:tabLst>
            </a:pPr>
            <a:r>
              <a:rPr lang="en-US" sz="2200" dirty="0"/>
              <a:t>where,</a:t>
            </a:r>
          </a:p>
          <a:p>
            <a:pPr defTabSz="974725">
              <a:tabLst>
                <a:tab pos="396875" algn="l"/>
                <a:tab pos="741363" algn="l"/>
              </a:tabLst>
            </a:pPr>
            <a:r>
              <a:rPr lang="en-US" sz="2200" b="1" dirty="0"/>
              <a:t>	</a:t>
            </a:r>
            <a:r>
              <a:rPr lang="en-US" sz="2200" i="1" dirty="0"/>
              <a:t>c</a:t>
            </a:r>
            <a:r>
              <a:rPr lang="en-US" sz="2200" i="1" baseline="-25000" dirty="0"/>
              <a:t>i</a:t>
            </a:r>
            <a:r>
              <a:rPr lang="en-US" sz="2200" b="1" dirty="0"/>
              <a:t>	</a:t>
            </a:r>
            <a:r>
              <a:rPr lang="en-US" sz="2200" dirty="0"/>
              <a:t>:	number density of component </a:t>
            </a:r>
            <a:r>
              <a:rPr lang="en-US" sz="2200" i="1" dirty="0"/>
              <a:t>I</a:t>
            </a:r>
          </a:p>
          <a:p>
            <a:pPr defTabSz="974725">
              <a:tabLst>
                <a:tab pos="396875" algn="l"/>
                <a:tab pos="741363" algn="l"/>
              </a:tabLst>
            </a:pPr>
            <a:r>
              <a:rPr lang="en-US" sz="2200" i="1" dirty="0"/>
              <a:t>	</a:t>
            </a:r>
            <a:r>
              <a:rPr lang="el-GR" sz="2200" i="1" dirty="0"/>
              <a:t>ρ</a:t>
            </a:r>
            <a:r>
              <a:rPr lang="en-US" sz="2200" baseline="-25000" dirty="0"/>
              <a:t>0</a:t>
            </a:r>
            <a:r>
              <a:rPr lang="en-US" sz="2200" dirty="0"/>
              <a:t>	:	total number density</a:t>
            </a:r>
          </a:p>
          <a:p>
            <a:pPr defTabSz="974725">
              <a:tabLst>
                <a:tab pos="396875" algn="l"/>
                <a:tab pos="741363" algn="l"/>
              </a:tabLst>
            </a:pPr>
            <a:r>
              <a:rPr lang="en-US" sz="2200" b="1" dirty="0"/>
              <a:t>	q	</a:t>
            </a:r>
            <a:r>
              <a:rPr lang="en-US" sz="2200" dirty="0"/>
              <a:t>:	scattering wave vector</a:t>
            </a:r>
          </a:p>
          <a:p>
            <a:pPr defTabSz="974725">
              <a:tabLst>
                <a:tab pos="396875" algn="l"/>
                <a:tab pos="741363" algn="l"/>
              </a:tabLst>
            </a:pPr>
            <a:r>
              <a:rPr lang="en-US" sz="2200" dirty="0"/>
              <a:t>	</a:t>
            </a:r>
            <a:r>
              <a:rPr lang="en-US" sz="2200" i="1" dirty="0"/>
              <a:t>f</a:t>
            </a:r>
            <a:r>
              <a:rPr lang="en-US" sz="2200" dirty="0"/>
              <a:t>	:	form factor</a:t>
            </a:r>
          </a:p>
          <a:p>
            <a:pPr defTabSz="974725">
              <a:tabLst>
                <a:tab pos="396875" algn="l"/>
                <a:tab pos="741363" algn="l"/>
              </a:tabLst>
            </a:pPr>
            <a:r>
              <a:rPr lang="en-US" sz="2200" dirty="0"/>
              <a:t>	</a:t>
            </a:r>
            <a:r>
              <a:rPr lang="en-US" sz="2200" i="1" dirty="0" err="1"/>
              <a:t>g</a:t>
            </a:r>
            <a:r>
              <a:rPr lang="en-US" sz="2200" i="1" baseline="-25000" dirty="0" err="1"/>
              <a:t>ij</a:t>
            </a:r>
            <a:r>
              <a:rPr lang="en-US" sz="2200" dirty="0"/>
              <a:t>	:	pair-correlation function</a:t>
            </a:r>
          </a:p>
          <a:p>
            <a:pPr defTabSz="974725">
              <a:tabLst>
                <a:tab pos="396875" algn="l"/>
                <a:tab pos="741363" algn="l"/>
              </a:tabLst>
            </a:pPr>
            <a:endParaRPr lang="en-US" sz="2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7DD89E-6A9B-C083-DB8E-D5A0985DD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71" y="3571240"/>
            <a:ext cx="3837869" cy="236121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0465B2-D8F2-D62E-CA7E-A05FF2025B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39200" y="6325870"/>
            <a:ext cx="2743200" cy="365125"/>
          </a:xfrm>
        </p:spPr>
        <p:txBody>
          <a:bodyPr/>
          <a:lstStyle/>
          <a:p>
            <a:fld id="{720C9141-3FAE-4C1A-A7DB-6513AA4F13ED}" type="slidenum">
              <a:rPr lang="en-US" smtClean="0"/>
              <a:pPr/>
              <a:t>5</a:t>
            </a:fld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E40743-F2DE-635A-70C3-0930F5277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70393"/>
            <a:ext cx="10972800" cy="438582"/>
          </a:xfrm>
        </p:spPr>
        <p:txBody>
          <a:bodyPr/>
          <a:lstStyle/>
          <a:p>
            <a:r>
              <a:rPr lang="en-US" dirty="0"/>
              <a:t>Example 08 – 3D Solid: Compute XRD: Fourier transform of RDF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A91820-0409-9828-DF82-F4343ABF9EAD}"/>
              </a:ext>
            </a:extLst>
          </p:cNvPr>
          <p:cNvGrpSpPr/>
          <p:nvPr/>
        </p:nvGrpSpPr>
        <p:grpSpPr>
          <a:xfrm>
            <a:off x="8059491" y="1605280"/>
            <a:ext cx="2600960" cy="3947160"/>
            <a:chOff x="8059491" y="2352040"/>
            <a:chExt cx="2600960" cy="32004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C87804C-2C11-95F4-4D7F-40F0029C1F6C}"/>
                </a:ext>
              </a:extLst>
            </p:cNvPr>
            <p:cNvCxnSpPr/>
            <p:nvPr/>
          </p:nvCxnSpPr>
          <p:spPr>
            <a:xfrm flipV="1">
              <a:off x="10660451" y="2352040"/>
              <a:ext cx="0" cy="3200400"/>
            </a:xfrm>
            <a:prstGeom prst="line">
              <a:avLst/>
            </a:prstGeom>
            <a:ln>
              <a:solidFill>
                <a:schemeClr val="bg1">
                  <a:lumMod val="50000"/>
                  <a:alpha val="49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D1A9750-BD45-8168-E01A-54DD3043C7AE}"/>
                </a:ext>
              </a:extLst>
            </p:cNvPr>
            <p:cNvCxnSpPr/>
            <p:nvPr/>
          </p:nvCxnSpPr>
          <p:spPr>
            <a:xfrm flipV="1">
              <a:off x="10264211" y="2352040"/>
              <a:ext cx="0" cy="3200400"/>
            </a:xfrm>
            <a:prstGeom prst="line">
              <a:avLst/>
            </a:prstGeom>
            <a:ln>
              <a:solidFill>
                <a:schemeClr val="bg1">
                  <a:lumMod val="50000"/>
                  <a:alpha val="49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3D7EF12-AADB-862B-2026-84F6AAFAC162}"/>
                </a:ext>
              </a:extLst>
            </p:cNvPr>
            <p:cNvCxnSpPr/>
            <p:nvPr/>
          </p:nvCxnSpPr>
          <p:spPr>
            <a:xfrm flipV="1">
              <a:off x="9857811" y="2352040"/>
              <a:ext cx="0" cy="3200400"/>
            </a:xfrm>
            <a:prstGeom prst="line">
              <a:avLst/>
            </a:prstGeom>
            <a:ln>
              <a:solidFill>
                <a:schemeClr val="bg1">
                  <a:lumMod val="50000"/>
                  <a:alpha val="49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A812BEB-B72E-1715-1FDF-3A1DA1D4671C}"/>
                </a:ext>
              </a:extLst>
            </p:cNvPr>
            <p:cNvCxnSpPr/>
            <p:nvPr/>
          </p:nvCxnSpPr>
          <p:spPr>
            <a:xfrm flipV="1">
              <a:off x="9410771" y="2352040"/>
              <a:ext cx="0" cy="3200400"/>
            </a:xfrm>
            <a:prstGeom prst="line">
              <a:avLst/>
            </a:prstGeom>
            <a:ln>
              <a:solidFill>
                <a:schemeClr val="bg1">
                  <a:lumMod val="50000"/>
                  <a:alpha val="49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9B4B42-9BAF-A907-D838-78DBF0495AEF}"/>
                </a:ext>
              </a:extLst>
            </p:cNvPr>
            <p:cNvCxnSpPr/>
            <p:nvPr/>
          </p:nvCxnSpPr>
          <p:spPr>
            <a:xfrm flipV="1">
              <a:off x="8902771" y="2352040"/>
              <a:ext cx="0" cy="3200400"/>
            </a:xfrm>
            <a:prstGeom prst="line">
              <a:avLst/>
            </a:prstGeom>
            <a:ln>
              <a:solidFill>
                <a:schemeClr val="bg1">
                  <a:lumMod val="50000"/>
                  <a:alpha val="49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DBB9EA8-A1DF-DAEA-9BDD-E603E98D9CDD}"/>
                </a:ext>
              </a:extLst>
            </p:cNvPr>
            <p:cNvCxnSpPr/>
            <p:nvPr/>
          </p:nvCxnSpPr>
          <p:spPr>
            <a:xfrm flipV="1">
              <a:off x="8262691" y="2352040"/>
              <a:ext cx="0" cy="3200400"/>
            </a:xfrm>
            <a:prstGeom prst="line">
              <a:avLst/>
            </a:prstGeom>
            <a:ln>
              <a:solidFill>
                <a:schemeClr val="bg1">
                  <a:lumMod val="50000"/>
                  <a:alpha val="49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B62E59-BE11-C56A-AA4E-5480A7C583D8}"/>
                </a:ext>
              </a:extLst>
            </p:cNvPr>
            <p:cNvCxnSpPr/>
            <p:nvPr/>
          </p:nvCxnSpPr>
          <p:spPr>
            <a:xfrm flipV="1">
              <a:off x="8059491" y="2352040"/>
              <a:ext cx="0" cy="3200400"/>
            </a:xfrm>
            <a:prstGeom prst="line">
              <a:avLst/>
            </a:prstGeom>
            <a:ln>
              <a:solidFill>
                <a:schemeClr val="bg1">
                  <a:lumMod val="50000"/>
                  <a:alpha val="49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B0EAD7A-7B82-81AF-B861-CA86AFEB8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94" y="1884653"/>
            <a:ext cx="4740051" cy="6096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B50E7A6-E11B-201E-7038-BEE69254E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774" y="5152442"/>
            <a:ext cx="3712786" cy="1530229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0D9DC270-45AE-1CA7-B1D4-A499AA7274FE}"/>
              </a:ext>
            </a:extLst>
          </p:cNvPr>
          <p:cNvSpPr/>
          <p:nvPr/>
        </p:nvSpPr>
        <p:spPr>
          <a:xfrm>
            <a:off x="937549" y="4398380"/>
            <a:ext cx="381965" cy="3819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Bahnschrift" panose="020B0502040204020203" pitchFamily="34" charset="0"/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C5444B8-3D1F-1748-F8A2-3AAFD072E603}"/>
              </a:ext>
            </a:extLst>
          </p:cNvPr>
          <p:cNvCxnSpPr>
            <a:endCxn id="18" idx="1"/>
          </p:cNvCxnSpPr>
          <p:nvPr/>
        </p:nvCxnSpPr>
        <p:spPr>
          <a:xfrm rot="16200000" flipH="1">
            <a:off x="914589" y="5046372"/>
            <a:ext cx="1090914" cy="65145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0F08068-EA09-F792-169B-CEFCB6C73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8029" y="1673723"/>
            <a:ext cx="6547671" cy="212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944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CBD8C-778B-3380-AE7A-8A484FF6B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007604-4A63-9480-5A26-7E554B8F16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C9141-3FAE-4C1A-A7DB-6513AA4F13ED}" type="slidenum">
              <a:rPr lang="en-US" smtClean="0"/>
              <a:pPr/>
              <a:t>6</a:t>
            </a:fld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6EADD5-F40B-313C-3803-2DC1FF0D1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70393"/>
            <a:ext cx="10972800" cy="438582"/>
          </a:xfrm>
        </p:spPr>
        <p:txBody>
          <a:bodyPr/>
          <a:lstStyle/>
          <a:p>
            <a:r>
              <a:rPr lang="en-US" dirty="0"/>
              <a:t>Example 08 – 3D Solid: Compute XRD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7E0A7-145E-9669-8ED4-0B5B986D6DB2}"/>
              </a:ext>
            </a:extLst>
          </p:cNvPr>
          <p:cNvSpPr txBox="1"/>
          <p:nvPr/>
        </p:nvSpPr>
        <p:spPr>
          <a:xfrm>
            <a:off x="609600" y="1371600"/>
            <a:ext cx="10972800" cy="2031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200" b="1" dirty="0"/>
              <a:t>Actions: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200" dirty="0"/>
              <a:t>Calculate the XRD on-the-fly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200" dirty="0"/>
              <a:t>Calculate the XRD by Fourier transforming the partial RDF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200" dirty="0"/>
              <a:t>How do they compare to the experimental XRD of NaCl?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200" dirty="0"/>
              <a:t>Perceived differences? Could we improve the Fourier method?</a:t>
            </a:r>
            <a:br>
              <a:rPr lang="en-US" sz="2200" dirty="0"/>
            </a:br>
            <a:r>
              <a:rPr lang="en-US" sz="2200" dirty="0"/>
              <a:t>(improves with increasing system size)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BE0ED8-E9A4-3F25-7161-CDC909F7F9F8}"/>
              </a:ext>
            </a:extLst>
          </p:cNvPr>
          <p:cNvSpPr txBox="1"/>
          <p:nvPr/>
        </p:nvSpPr>
        <p:spPr>
          <a:xfrm>
            <a:off x="625034" y="5487326"/>
            <a:ext cx="10961224" cy="120032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dirty="0"/>
              <a:t>A detailed description of the methods can be found in the following reference:</a:t>
            </a:r>
          </a:p>
          <a:p>
            <a:endParaRPr lang="en-US" dirty="0"/>
          </a:p>
          <a:p>
            <a:r>
              <a:rPr lang="en-US" dirty="0"/>
              <a:t>S. </a:t>
            </a:r>
            <a:r>
              <a:rPr lang="en-US" dirty="0" err="1"/>
              <a:t>Kallivokas</a:t>
            </a:r>
            <a:r>
              <a:rPr lang="en-US" dirty="0"/>
              <a:t>; A. P. Sgouros; D. N. Theodorou, Molecular dynamics simulations of epon-862 / </a:t>
            </a:r>
            <a:r>
              <a:rPr lang="en-US" dirty="0" err="1"/>
              <a:t>detda</a:t>
            </a:r>
            <a:r>
              <a:rPr lang="en-US" dirty="0"/>
              <a:t> epoxy networks: structure, topology, elastic constants, dynamics. Soft Matter 15, 721, 2019.</a:t>
            </a:r>
          </a:p>
        </p:txBody>
      </p:sp>
    </p:spTree>
    <p:extLst>
      <p:ext uri="{BB962C8B-B14F-4D97-AF65-F5344CB8AC3E}">
        <p14:creationId xmlns:p14="http://schemas.microsoft.com/office/powerpoint/2010/main" val="779332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724FB-B78F-ACF3-6362-B46DD2C52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5D5D6C-B9EE-CBA4-01D7-E4DCE57DC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C9141-3FAE-4C1A-A7DB-6513AA4F13ED}" type="slidenum">
              <a:rPr lang="en-US" smtClean="0"/>
              <a:pPr/>
              <a:t>7</a:t>
            </a:fld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B80A21-EDB5-7CB9-96C7-2CCCBEC3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70393"/>
            <a:ext cx="10972800" cy="438582"/>
          </a:xfrm>
        </p:spPr>
        <p:txBody>
          <a:bodyPr/>
          <a:lstStyle/>
          <a:p>
            <a:r>
              <a:rPr lang="en-US" dirty="0"/>
              <a:t>Example 09 – Uniaxial deformation of orthogonal </a:t>
            </a:r>
            <a:r>
              <a:rPr lang="en-US" dirty="0" err="1"/>
              <a:t>hBN</a:t>
            </a:r>
            <a:r>
              <a:rPr lang="en-US" dirty="0"/>
              <a:t> sheet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D4854-3EB0-03C3-6AA4-9B2BFF65803F}"/>
              </a:ext>
            </a:extLst>
          </p:cNvPr>
          <p:cNvSpPr txBox="1"/>
          <p:nvPr/>
        </p:nvSpPr>
        <p:spPr>
          <a:xfrm>
            <a:off x="609600" y="1371600"/>
            <a:ext cx="10972800" cy="44012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200" dirty="0"/>
              <a:t>This example demonstrates how to perform uniaxial deformation with </a:t>
            </a:r>
            <a:r>
              <a:rPr lang="en-US" sz="2200" dirty="0" err="1"/>
              <a:t>lammps</a:t>
            </a:r>
            <a:endParaRPr lang="en-US" sz="2200" dirty="0"/>
          </a:p>
          <a:p>
            <a:endParaRPr lang="en-US" sz="2200" b="1" dirty="0"/>
          </a:p>
          <a:p>
            <a:r>
              <a:rPr lang="en-US" sz="2200" b="1" dirty="0"/>
              <a:t>System: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200" dirty="0"/>
              <a:t>2D </a:t>
            </a:r>
            <a:r>
              <a:rPr lang="en-US" sz="2200" dirty="0" err="1"/>
              <a:t>hBN</a:t>
            </a:r>
            <a:r>
              <a:rPr lang="en-US" sz="2200" dirty="0"/>
              <a:t> crystal with 30x15 4-atom cells</a:t>
            </a:r>
          </a:p>
          <a:p>
            <a:endParaRPr lang="en-US" sz="2200" dirty="0"/>
          </a:p>
          <a:p>
            <a:r>
              <a:rPr lang="en-US" sz="2200" b="1" dirty="0"/>
              <a:t>Learning goals: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Equilibrate reference dimensions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Calculate lattice constant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Export the stress-strain curves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Estimate the:</a:t>
            </a:r>
            <a:br>
              <a:rPr lang="en-US" sz="2200" dirty="0"/>
            </a:br>
            <a:r>
              <a:rPr lang="en-US" sz="2200" dirty="0"/>
              <a:t>- Lattice constants</a:t>
            </a:r>
            <a:br>
              <a:rPr lang="en-US" sz="2200" dirty="0"/>
            </a:br>
            <a:r>
              <a:rPr lang="en-US" sz="2200" dirty="0"/>
              <a:t>- Young’s modulus</a:t>
            </a:r>
            <a:br>
              <a:rPr lang="en-US" sz="2200" dirty="0"/>
            </a:br>
            <a:r>
              <a:rPr lang="en-US" sz="2200" dirty="0"/>
              <a:t>- Poisson ratio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74C0F4-3221-3187-F11B-49F8A26F16DA}"/>
              </a:ext>
            </a:extLst>
          </p:cNvPr>
          <p:cNvSpPr txBox="1"/>
          <p:nvPr/>
        </p:nvSpPr>
        <p:spPr>
          <a:xfrm>
            <a:off x="7668416" y="5842193"/>
            <a:ext cx="3044103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400" i="1" dirty="0">
                <a:latin typeface="Bahnschrift" panose="020B0502040204020203" pitchFamily="34" charset="0"/>
              </a:rPr>
              <a:t>Uniaxial deformed</a:t>
            </a:r>
          </a:p>
          <a:p>
            <a:pPr algn="ctr"/>
            <a:r>
              <a:rPr lang="en-US" sz="2400" i="1" dirty="0" err="1">
                <a:latin typeface="Bahnschrift" panose="020B0502040204020203" pitchFamily="34" charset="0"/>
              </a:rPr>
              <a:t>hBN</a:t>
            </a:r>
            <a:r>
              <a:rPr lang="en-US" sz="2400" i="1" dirty="0">
                <a:latin typeface="Bahnschrift" panose="020B0502040204020203" pitchFamily="34" charset="0"/>
              </a:rPr>
              <a:t> crystal (5x4 </a:t>
            </a:r>
            <a:r>
              <a:rPr lang="en-US" sz="2400" i="1" dirty="0" err="1">
                <a:latin typeface="Bahnschrift" panose="020B0502040204020203" pitchFamily="34" charset="0"/>
              </a:rPr>
              <a:t>repl</a:t>
            </a:r>
            <a:r>
              <a:rPr lang="en-US" sz="2400" i="1" dirty="0">
                <a:latin typeface="Bahnschrift" panose="020B0502040204020203" pitchFamily="34" charset="0"/>
              </a:rPr>
              <a:t>)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B95BE03-2532-4FEA-0CE9-070F1AFC71AC}"/>
              </a:ext>
            </a:extLst>
          </p:cNvPr>
          <p:cNvGrpSpPr/>
          <p:nvPr/>
        </p:nvGrpSpPr>
        <p:grpSpPr>
          <a:xfrm rot="16200000">
            <a:off x="7461737" y="2281056"/>
            <a:ext cx="3672431" cy="3152698"/>
            <a:chOff x="6162963" y="2086926"/>
            <a:chExt cx="2362201" cy="2027896"/>
          </a:xfrm>
        </p:grpSpPr>
        <p:pic>
          <p:nvPicPr>
            <p:cNvPr id="58" name="Picture 4">
              <a:extLst>
                <a:ext uri="{FF2B5EF4-FFF2-40B4-BE49-F238E27FC236}">
                  <a16:creationId xmlns:a16="http://schemas.microsoft.com/office/drawing/2014/main" id="{AEB17E14-5612-4FA5-9651-17B0513C9F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6749397" y="2491430"/>
              <a:ext cx="1178222" cy="15266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09792FB-A035-0ABC-58CE-58C8F97D5615}"/>
                </a:ext>
              </a:extLst>
            </p:cNvPr>
            <p:cNvGrpSpPr/>
            <p:nvPr/>
          </p:nvGrpSpPr>
          <p:grpSpPr>
            <a:xfrm flipH="1">
              <a:off x="8216131" y="2819398"/>
              <a:ext cx="309033" cy="893232"/>
              <a:chOff x="8657167" y="5393266"/>
              <a:chExt cx="177800" cy="893232"/>
            </a:xfrm>
          </p:grpSpPr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2592B10C-5DAF-3CCA-0903-88DD3DF5A740}"/>
                  </a:ext>
                </a:extLst>
              </p:cNvPr>
              <p:cNvGrpSpPr/>
              <p:nvPr/>
            </p:nvGrpSpPr>
            <p:grpSpPr>
              <a:xfrm flipH="1">
                <a:off x="8657167" y="5393266"/>
                <a:ext cx="177800" cy="436034"/>
                <a:chOff x="8860367" y="5355167"/>
                <a:chExt cx="237067" cy="436034"/>
              </a:xfrm>
            </p:grpSpPr>
            <p:cxnSp>
              <p:nvCxnSpPr>
                <p:cNvPr id="93" name="Straight Arrow Connector 92">
                  <a:extLst>
                    <a:ext uri="{FF2B5EF4-FFF2-40B4-BE49-F238E27FC236}">
                      <a16:creationId xmlns:a16="http://schemas.microsoft.com/office/drawing/2014/main" id="{BF47C6BD-22B5-1AC7-3583-BD4958CF905C}"/>
                    </a:ext>
                  </a:extLst>
                </p:cNvPr>
                <p:cNvCxnSpPr/>
                <p:nvPr/>
              </p:nvCxnSpPr>
              <p:spPr>
                <a:xfrm>
                  <a:off x="8860367" y="5355167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Arrow Connector 93">
                  <a:extLst>
                    <a:ext uri="{FF2B5EF4-FFF2-40B4-BE49-F238E27FC236}">
                      <a16:creationId xmlns:a16="http://schemas.microsoft.com/office/drawing/2014/main" id="{ECA1BCFE-D38A-7DB2-8694-EEE34EE3E9DE}"/>
                    </a:ext>
                  </a:extLst>
                </p:cNvPr>
                <p:cNvCxnSpPr/>
                <p:nvPr/>
              </p:nvCxnSpPr>
              <p:spPr>
                <a:xfrm>
                  <a:off x="8860367" y="5566833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Arrow Connector 94">
                  <a:extLst>
                    <a:ext uri="{FF2B5EF4-FFF2-40B4-BE49-F238E27FC236}">
                      <a16:creationId xmlns:a16="http://schemas.microsoft.com/office/drawing/2014/main" id="{5476025C-732D-1EAE-940E-3C48CD56D0D9}"/>
                    </a:ext>
                  </a:extLst>
                </p:cNvPr>
                <p:cNvCxnSpPr/>
                <p:nvPr/>
              </p:nvCxnSpPr>
              <p:spPr>
                <a:xfrm>
                  <a:off x="8860367" y="5791201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E543E119-6661-E23E-1517-37CB5A09D756}"/>
                  </a:ext>
                </a:extLst>
              </p:cNvPr>
              <p:cNvGrpSpPr/>
              <p:nvPr/>
            </p:nvGrpSpPr>
            <p:grpSpPr>
              <a:xfrm flipH="1">
                <a:off x="8657167" y="6074832"/>
                <a:ext cx="177800" cy="211666"/>
                <a:chOff x="8860367" y="5355167"/>
                <a:chExt cx="237067" cy="211666"/>
              </a:xfrm>
            </p:grpSpPr>
            <p:cxnSp>
              <p:nvCxnSpPr>
                <p:cNvPr id="91" name="Straight Arrow Connector 90">
                  <a:extLst>
                    <a:ext uri="{FF2B5EF4-FFF2-40B4-BE49-F238E27FC236}">
                      <a16:creationId xmlns:a16="http://schemas.microsoft.com/office/drawing/2014/main" id="{71C053D8-FF1A-670D-DF2D-CD98071B110A}"/>
                    </a:ext>
                  </a:extLst>
                </p:cNvPr>
                <p:cNvCxnSpPr/>
                <p:nvPr/>
              </p:nvCxnSpPr>
              <p:spPr>
                <a:xfrm>
                  <a:off x="8860367" y="5355167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Arrow Connector 91">
                  <a:extLst>
                    <a:ext uri="{FF2B5EF4-FFF2-40B4-BE49-F238E27FC236}">
                      <a16:creationId xmlns:a16="http://schemas.microsoft.com/office/drawing/2014/main" id="{F5BC26A2-4132-20E2-1BB7-287BCA9C6D21}"/>
                    </a:ext>
                  </a:extLst>
                </p:cNvPr>
                <p:cNvCxnSpPr/>
                <p:nvPr/>
              </p:nvCxnSpPr>
              <p:spPr>
                <a:xfrm>
                  <a:off x="8860367" y="5566833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3725C37-5D30-913E-A523-56481BC898E6}"/>
                </a:ext>
              </a:extLst>
            </p:cNvPr>
            <p:cNvGrpSpPr/>
            <p:nvPr/>
          </p:nvGrpSpPr>
          <p:grpSpPr>
            <a:xfrm>
              <a:off x="6162963" y="2819398"/>
              <a:ext cx="351367" cy="893232"/>
              <a:chOff x="8657167" y="5393266"/>
              <a:chExt cx="177800" cy="893232"/>
            </a:xfrm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4FCC520B-AABF-E75C-F5AD-419229849B5A}"/>
                  </a:ext>
                </a:extLst>
              </p:cNvPr>
              <p:cNvGrpSpPr/>
              <p:nvPr/>
            </p:nvGrpSpPr>
            <p:grpSpPr>
              <a:xfrm flipH="1">
                <a:off x="8657167" y="5393266"/>
                <a:ext cx="177800" cy="436034"/>
                <a:chOff x="8860367" y="5355167"/>
                <a:chExt cx="237067" cy="436034"/>
              </a:xfrm>
            </p:grpSpPr>
            <p:cxnSp>
              <p:nvCxnSpPr>
                <p:cNvPr id="86" name="Straight Arrow Connector 85">
                  <a:extLst>
                    <a:ext uri="{FF2B5EF4-FFF2-40B4-BE49-F238E27FC236}">
                      <a16:creationId xmlns:a16="http://schemas.microsoft.com/office/drawing/2014/main" id="{3ECA842F-1BB8-6CAA-D320-D6887C4258AA}"/>
                    </a:ext>
                  </a:extLst>
                </p:cNvPr>
                <p:cNvCxnSpPr/>
                <p:nvPr/>
              </p:nvCxnSpPr>
              <p:spPr>
                <a:xfrm>
                  <a:off x="8860367" y="5355167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7086ADA0-C4A1-5B0C-C4A2-C4D9DF9F0D4C}"/>
                    </a:ext>
                  </a:extLst>
                </p:cNvPr>
                <p:cNvCxnSpPr/>
                <p:nvPr/>
              </p:nvCxnSpPr>
              <p:spPr>
                <a:xfrm>
                  <a:off x="8860367" y="5566833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Arrow Connector 87">
                  <a:extLst>
                    <a:ext uri="{FF2B5EF4-FFF2-40B4-BE49-F238E27FC236}">
                      <a16:creationId xmlns:a16="http://schemas.microsoft.com/office/drawing/2014/main" id="{6CB4AFBD-FEE0-ADF7-4DF6-B3FC4BD2DB76}"/>
                    </a:ext>
                  </a:extLst>
                </p:cNvPr>
                <p:cNvCxnSpPr/>
                <p:nvPr/>
              </p:nvCxnSpPr>
              <p:spPr>
                <a:xfrm>
                  <a:off x="8860367" y="5791201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8C26EE8C-F32E-9541-7500-E82CD16602C1}"/>
                  </a:ext>
                </a:extLst>
              </p:cNvPr>
              <p:cNvGrpSpPr/>
              <p:nvPr/>
            </p:nvGrpSpPr>
            <p:grpSpPr>
              <a:xfrm flipH="1">
                <a:off x="8657167" y="6074832"/>
                <a:ext cx="177800" cy="211666"/>
                <a:chOff x="8860367" y="5355167"/>
                <a:chExt cx="237067" cy="211666"/>
              </a:xfrm>
            </p:grpSpPr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0645314E-6618-6BF7-6B88-5A5E541D43A0}"/>
                    </a:ext>
                  </a:extLst>
                </p:cNvPr>
                <p:cNvCxnSpPr/>
                <p:nvPr/>
              </p:nvCxnSpPr>
              <p:spPr>
                <a:xfrm>
                  <a:off x="8860367" y="5355167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9574A1F2-2AB6-4F89-D762-BB0E1BC4E1E3}"/>
                    </a:ext>
                  </a:extLst>
                </p:cNvPr>
                <p:cNvCxnSpPr/>
                <p:nvPr/>
              </p:nvCxnSpPr>
              <p:spPr>
                <a:xfrm>
                  <a:off x="8860367" y="5566833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2ADCD09-2253-9912-8673-70F5F228E8ED}"/>
                </a:ext>
              </a:extLst>
            </p:cNvPr>
            <p:cNvGrpSpPr/>
            <p:nvPr/>
          </p:nvGrpSpPr>
          <p:grpSpPr>
            <a:xfrm rot="16200000">
              <a:off x="7199070" y="1855286"/>
              <a:ext cx="203209" cy="1312333"/>
              <a:chOff x="8657157" y="5393266"/>
              <a:chExt cx="177810" cy="1312333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70E73003-5EB4-4FC9-40BD-4C9CD254F158}"/>
                  </a:ext>
                </a:extLst>
              </p:cNvPr>
              <p:cNvGrpSpPr/>
              <p:nvPr/>
            </p:nvGrpSpPr>
            <p:grpSpPr>
              <a:xfrm flipH="1">
                <a:off x="8657167" y="5393266"/>
                <a:ext cx="177800" cy="436034"/>
                <a:chOff x="8860367" y="5355167"/>
                <a:chExt cx="237067" cy="436034"/>
              </a:xfrm>
            </p:grpSpPr>
            <p:cxnSp>
              <p:nvCxnSpPr>
                <p:cNvPr id="79" name="Straight Arrow Connector 78">
                  <a:extLst>
                    <a:ext uri="{FF2B5EF4-FFF2-40B4-BE49-F238E27FC236}">
                      <a16:creationId xmlns:a16="http://schemas.microsoft.com/office/drawing/2014/main" id="{55B708EE-B3EB-0100-0CB5-C35BB09EDADD}"/>
                    </a:ext>
                  </a:extLst>
                </p:cNvPr>
                <p:cNvCxnSpPr/>
                <p:nvPr/>
              </p:nvCxnSpPr>
              <p:spPr>
                <a:xfrm>
                  <a:off x="8860367" y="5355167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id="{2E40E507-3B6D-3878-6BD3-141558677272}"/>
                    </a:ext>
                  </a:extLst>
                </p:cNvPr>
                <p:cNvCxnSpPr/>
                <p:nvPr/>
              </p:nvCxnSpPr>
              <p:spPr>
                <a:xfrm>
                  <a:off x="8860367" y="5566833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id="{BE6B0CFD-474A-7909-DD3C-79313DCBC315}"/>
                    </a:ext>
                  </a:extLst>
                </p:cNvPr>
                <p:cNvCxnSpPr/>
                <p:nvPr/>
              </p:nvCxnSpPr>
              <p:spPr>
                <a:xfrm>
                  <a:off x="8860367" y="5791201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461AB3C9-E86C-1BB6-BB4E-AE1E03D6356D}"/>
                  </a:ext>
                </a:extLst>
              </p:cNvPr>
              <p:cNvGrpSpPr/>
              <p:nvPr/>
            </p:nvGrpSpPr>
            <p:grpSpPr>
              <a:xfrm flipH="1">
                <a:off x="8657157" y="6046257"/>
                <a:ext cx="177801" cy="659342"/>
                <a:chOff x="8860367" y="5326592"/>
                <a:chExt cx="237068" cy="659342"/>
              </a:xfrm>
            </p:grpSpPr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1288D808-1D69-BA22-2691-1A03CB19A64F}"/>
                    </a:ext>
                  </a:extLst>
                </p:cNvPr>
                <p:cNvCxnSpPr/>
                <p:nvPr/>
              </p:nvCxnSpPr>
              <p:spPr>
                <a:xfrm>
                  <a:off x="8860367" y="5326592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>
                  <a:extLst>
                    <a:ext uri="{FF2B5EF4-FFF2-40B4-BE49-F238E27FC236}">
                      <a16:creationId xmlns:a16="http://schemas.microsoft.com/office/drawing/2014/main" id="{0B2078E5-DC01-612F-0C6E-DBA011C3BE5C}"/>
                    </a:ext>
                  </a:extLst>
                </p:cNvPr>
                <p:cNvCxnSpPr/>
                <p:nvPr/>
              </p:nvCxnSpPr>
              <p:spPr>
                <a:xfrm>
                  <a:off x="8860368" y="5538259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E2B08D55-9E23-4817-F870-C8EB531DE999}"/>
                    </a:ext>
                  </a:extLst>
                </p:cNvPr>
                <p:cNvCxnSpPr/>
                <p:nvPr/>
              </p:nvCxnSpPr>
              <p:spPr>
                <a:xfrm>
                  <a:off x="8860368" y="5766859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Arrow Connector 77">
                  <a:extLst>
                    <a:ext uri="{FF2B5EF4-FFF2-40B4-BE49-F238E27FC236}">
                      <a16:creationId xmlns:a16="http://schemas.microsoft.com/office/drawing/2014/main" id="{3897DC7A-4FA5-30D2-FC87-28ACEA377600}"/>
                    </a:ext>
                  </a:extLst>
                </p:cNvPr>
                <p:cNvCxnSpPr/>
                <p:nvPr/>
              </p:nvCxnSpPr>
              <p:spPr>
                <a:xfrm>
                  <a:off x="8860368" y="5985934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5BB14D8-D647-9A4B-3320-7310CD68716E}"/>
                </a:ext>
              </a:extLst>
            </p:cNvPr>
            <p:cNvGrpSpPr/>
            <p:nvPr/>
          </p:nvGrpSpPr>
          <p:grpSpPr>
            <a:xfrm rot="16200000" flipH="1">
              <a:off x="7210176" y="3368157"/>
              <a:ext cx="180997" cy="1312333"/>
              <a:chOff x="8657157" y="5393266"/>
              <a:chExt cx="177810" cy="1312333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A68D886C-1151-445E-619A-EF1FA7C35F16}"/>
                  </a:ext>
                </a:extLst>
              </p:cNvPr>
              <p:cNvGrpSpPr/>
              <p:nvPr/>
            </p:nvGrpSpPr>
            <p:grpSpPr>
              <a:xfrm flipH="1">
                <a:off x="8657167" y="5393266"/>
                <a:ext cx="177800" cy="436034"/>
                <a:chOff x="8860367" y="5355167"/>
                <a:chExt cx="237067" cy="436034"/>
              </a:xfrm>
            </p:grpSpPr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9DF0A65C-A183-A951-EAA1-67591DDB9B9D}"/>
                    </a:ext>
                  </a:extLst>
                </p:cNvPr>
                <p:cNvCxnSpPr/>
                <p:nvPr/>
              </p:nvCxnSpPr>
              <p:spPr>
                <a:xfrm>
                  <a:off x="8860367" y="5355167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Arrow Connector 70">
                  <a:extLst>
                    <a:ext uri="{FF2B5EF4-FFF2-40B4-BE49-F238E27FC236}">
                      <a16:creationId xmlns:a16="http://schemas.microsoft.com/office/drawing/2014/main" id="{36A85D0C-0212-159A-01DB-FC7B8184EE0C}"/>
                    </a:ext>
                  </a:extLst>
                </p:cNvPr>
                <p:cNvCxnSpPr/>
                <p:nvPr/>
              </p:nvCxnSpPr>
              <p:spPr>
                <a:xfrm>
                  <a:off x="8860367" y="5566833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F51D72C5-5738-0ACC-B2C7-C759B771F607}"/>
                    </a:ext>
                  </a:extLst>
                </p:cNvPr>
                <p:cNvCxnSpPr/>
                <p:nvPr/>
              </p:nvCxnSpPr>
              <p:spPr>
                <a:xfrm>
                  <a:off x="8860367" y="5791201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A4FB0D86-46E3-1F29-C69B-811BDF9BB4AC}"/>
                  </a:ext>
                </a:extLst>
              </p:cNvPr>
              <p:cNvGrpSpPr/>
              <p:nvPr/>
            </p:nvGrpSpPr>
            <p:grpSpPr>
              <a:xfrm flipH="1">
                <a:off x="8657157" y="6046257"/>
                <a:ext cx="177801" cy="659342"/>
                <a:chOff x="8860367" y="5326592"/>
                <a:chExt cx="237068" cy="659342"/>
              </a:xfrm>
            </p:grpSpPr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4F8EA04A-8397-67BF-68C6-E9C667C03E83}"/>
                    </a:ext>
                  </a:extLst>
                </p:cNvPr>
                <p:cNvCxnSpPr/>
                <p:nvPr/>
              </p:nvCxnSpPr>
              <p:spPr>
                <a:xfrm>
                  <a:off x="8860367" y="5326592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90BAB2A5-3419-81C7-A679-E538B56B93F4}"/>
                    </a:ext>
                  </a:extLst>
                </p:cNvPr>
                <p:cNvCxnSpPr/>
                <p:nvPr/>
              </p:nvCxnSpPr>
              <p:spPr>
                <a:xfrm>
                  <a:off x="8860368" y="5538259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>
                  <a:extLst>
                    <a:ext uri="{FF2B5EF4-FFF2-40B4-BE49-F238E27FC236}">
                      <a16:creationId xmlns:a16="http://schemas.microsoft.com/office/drawing/2014/main" id="{F939E68C-1185-F534-684C-C6E773528B0F}"/>
                    </a:ext>
                  </a:extLst>
                </p:cNvPr>
                <p:cNvCxnSpPr/>
                <p:nvPr/>
              </p:nvCxnSpPr>
              <p:spPr>
                <a:xfrm>
                  <a:off x="8860368" y="5766859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Arrow Connector 68">
                  <a:extLst>
                    <a:ext uri="{FF2B5EF4-FFF2-40B4-BE49-F238E27FC236}">
                      <a16:creationId xmlns:a16="http://schemas.microsoft.com/office/drawing/2014/main" id="{6105BBE0-AA08-1B43-0850-431205E7AA57}"/>
                    </a:ext>
                  </a:extLst>
                </p:cNvPr>
                <p:cNvCxnSpPr/>
                <p:nvPr/>
              </p:nvCxnSpPr>
              <p:spPr>
                <a:xfrm>
                  <a:off x="8860368" y="5985934"/>
                  <a:ext cx="237067" cy="0"/>
                </a:xfrm>
                <a:prstGeom prst="straightConnector1">
                  <a:avLst/>
                </a:prstGeom>
                <a:ln w="1905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7C3B438-A70B-DD73-C8C2-6247AD4529E5}"/>
                </a:ext>
              </a:extLst>
            </p:cNvPr>
            <p:cNvSpPr txBox="1"/>
            <p:nvPr/>
          </p:nvSpPr>
          <p:spPr>
            <a:xfrm>
              <a:off x="6953249" y="2086926"/>
              <a:ext cx="625073" cy="3034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0 </a:t>
              </a:r>
              <a:r>
                <a:rPr lang="en-US" sz="2000" dirty="0" err="1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atm</a:t>
              </a:r>
              <a:endParaRPr lang="en-US" sz="2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2650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A125E-0C87-0812-56C5-36F149F7F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8A0C8B3-CD6C-A2DD-0D50-1AC0FB439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962" y="1294263"/>
            <a:ext cx="4572396" cy="27861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A97999-3FB7-E77C-D551-73310DB2D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522" y="3411487"/>
            <a:ext cx="4572396" cy="27861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EB174C-EDF8-BDA1-9CB3-D747E67AB9FA}"/>
              </a:ext>
            </a:extLst>
          </p:cNvPr>
          <p:cNvSpPr txBox="1"/>
          <p:nvPr/>
        </p:nvSpPr>
        <p:spPr>
          <a:xfrm>
            <a:off x="609600" y="1371600"/>
            <a:ext cx="10972800" cy="40626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200" b="1" dirty="0"/>
              <a:t>Actions: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200" dirty="0"/>
              <a:t>Estimate lattice constant from reference dimensions;</a:t>
            </a:r>
            <a:br>
              <a:rPr lang="en-US" sz="2200" dirty="0"/>
            </a:br>
            <a:r>
              <a:rPr lang="en-US" sz="2200" dirty="0"/>
              <a:t>note that, </a:t>
            </a:r>
            <a:r>
              <a:rPr lang="en-US" sz="2200" i="1" dirty="0"/>
              <a:t>L</a:t>
            </a:r>
            <a:r>
              <a:rPr lang="en-US" sz="2200" i="1" baseline="-25000" dirty="0"/>
              <a:t>x</a:t>
            </a:r>
            <a:r>
              <a:rPr lang="en-US" sz="2200" dirty="0"/>
              <a:t> = </a:t>
            </a:r>
            <a:r>
              <a:rPr lang="en-US" sz="2200" i="1" dirty="0" err="1"/>
              <a:t>n</a:t>
            </a:r>
            <a:r>
              <a:rPr lang="en-US" sz="2200" baseline="-25000" dirty="0" err="1"/>
              <a:t>x</a:t>
            </a:r>
            <a:r>
              <a:rPr lang="en-US" sz="2200" i="1" dirty="0" err="1"/>
              <a:t>a</a:t>
            </a:r>
            <a:r>
              <a:rPr lang="en-US" sz="2200" baseline="-25000" dirty="0" err="1"/>
              <a:t>lat</a:t>
            </a:r>
            <a:r>
              <a:rPr lang="en-US" sz="2200" dirty="0"/>
              <a:t> and </a:t>
            </a:r>
            <a:r>
              <a:rPr lang="en-US" sz="2200" i="1" dirty="0"/>
              <a:t>L</a:t>
            </a:r>
            <a:r>
              <a:rPr lang="en-US" sz="2200" i="1" baseline="-25000" dirty="0"/>
              <a:t>y</a:t>
            </a:r>
            <a:r>
              <a:rPr lang="en-US" sz="2200" dirty="0"/>
              <a:t> = 3</a:t>
            </a:r>
            <a:r>
              <a:rPr lang="en-US" sz="2200" baseline="30000" dirty="0"/>
              <a:t>0.5</a:t>
            </a:r>
            <a:r>
              <a:rPr lang="en-US" sz="2200" i="1" dirty="0"/>
              <a:t>n</a:t>
            </a:r>
            <a:r>
              <a:rPr lang="en-US" sz="2200" i="1" baseline="-25000" dirty="0"/>
              <a:t>y</a:t>
            </a:r>
            <a:r>
              <a:rPr lang="en-US" sz="2200" i="1" dirty="0"/>
              <a:t>a</a:t>
            </a:r>
            <a:r>
              <a:rPr lang="en-US" sz="2200" baseline="-25000" dirty="0"/>
              <a:t>lat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200" dirty="0"/>
              <a:t>Extract thermodynamic log from the</a:t>
            </a:r>
            <a:br>
              <a:rPr lang="en-US" sz="2200" dirty="0"/>
            </a:br>
            <a:r>
              <a:rPr lang="en-US" sz="2200" dirty="0"/>
              <a:t>deformation part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200" dirty="0"/>
              <a:t>Convert the pressure [atm] to 2D stress [Pa m];</a:t>
            </a:r>
            <a:br>
              <a:rPr lang="en-US" sz="2200" dirty="0"/>
            </a:br>
            <a:r>
              <a:rPr lang="el-GR" sz="2200" dirty="0"/>
              <a:t>σ</a:t>
            </a:r>
            <a:r>
              <a:rPr lang="en-US" sz="2200" baseline="-25000" dirty="0"/>
              <a:t>2D,</a:t>
            </a:r>
            <a:r>
              <a:rPr lang="en-US" sz="2200" i="1" baseline="-25000" dirty="0"/>
              <a:t>ij</a:t>
            </a:r>
            <a:r>
              <a:rPr lang="en-US" sz="2200" dirty="0"/>
              <a:t> = </a:t>
            </a:r>
            <a:r>
              <a:rPr lang="en-US" sz="2200" i="1" dirty="0" err="1"/>
              <a:t>P</a:t>
            </a:r>
            <a:r>
              <a:rPr lang="en-US" sz="2200" i="1" baseline="-25000" dirty="0" err="1"/>
              <a:t>ij</a:t>
            </a:r>
            <a:r>
              <a:rPr lang="en-US" sz="2200" dirty="0"/>
              <a:t> </a:t>
            </a:r>
            <a:r>
              <a:rPr lang="en-US" sz="2200" i="1" dirty="0" err="1"/>
              <a:t>L</a:t>
            </a:r>
            <a:r>
              <a:rPr lang="en-US" sz="2200" i="1" baseline="-25000" dirty="0" err="1"/>
              <a:t>z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200" dirty="0"/>
              <a:t>Plot stress-strain curve </a:t>
            </a:r>
            <a:r>
              <a:rPr lang="en-US" sz="2200" dirty="0">
                <a:latin typeface="Garamond" panose="02020404030301010803" pitchFamily="18" charset="0"/>
              </a:rPr>
              <a:t>→ </a:t>
            </a:r>
            <a:r>
              <a:rPr lang="en-US" sz="2200" dirty="0"/>
              <a:t>extract Young modulus;</a:t>
            </a:r>
            <a:br>
              <a:rPr lang="en-US" sz="2200" dirty="0"/>
            </a:br>
            <a:r>
              <a:rPr lang="en-US" sz="2200" dirty="0"/>
              <a:t>compare with analytic value 258.2 Pa m.</a:t>
            </a:r>
            <a:r>
              <a:rPr lang="en-US" sz="2200" baseline="30000" dirty="0"/>
              <a:t>1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200" dirty="0"/>
              <a:t>Plot the –</a:t>
            </a:r>
            <a:r>
              <a:rPr lang="el-GR" sz="2200" i="1" dirty="0"/>
              <a:t>ε</a:t>
            </a:r>
            <a:r>
              <a:rPr lang="en-US" sz="2200" i="1" baseline="-25000" dirty="0" err="1"/>
              <a:t>yy</a:t>
            </a:r>
            <a:r>
              <a:rPr lang="en-US" sz="2200" dirty="0"/>
              <a:t>/</a:t>
            </a:r>
            <a:r>
              <a:rPr lang="el-GR" sz="2200" i="1" dirty="0"/>
              <a:t>ε</a:t>
            </a:r>
            <a:r>
              <a:rPr lang="en-US" sz="2200" i="1" baseline="-25000" dirty="0"/>
              <a:t>xx</a:t>
            </a:r>
            <a:r>
              <a:rPr lang="en-US" sz="2200" dirty="0"/>
              <a:t> curve </a:t>
            </a:r>
            <a:r>
              <a:rPr lang="en-US" sz="2200" dirty="0">
                <a:latin typeface="Garamond" panose="02020404030301010803" pitchFamily="18" charset="0"/>
              </a:rPr>
              <a:t>→</a:t>
            </a:r>
            <a:r>
              <a:rPr lang="en-US" sz="2200" dirty="0"/>
              <a:t> extract Poisson ratio</a:t>
            </a:r>
            <a:br>
              <a:rPr lang="en-US" sz="2200" dirty="0"/>
            </a:br>
            <a:r>
              <a:rPr lang="en-US" sz="2200" dirty="0"/>
              <a:t>compare with analytic value 0.275.</a:t>
            </a:r>
            <a:r>
              <a:rPr lang="en-US" sz="2200" baseline="30000" dirty="0"/>
              <a:t>1</a:t>
            </a:r>
          </a:p>
          <a:p>
            <a:pPr>
              <a:tabLst>
                <a:tab pos="347663" algn="l"/>
              </a:tabLst>
            </a:pPr>
            <a:endParaRPr lang="en-US" sz="2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7B2148-BD86-8AE5-8765-60D89F337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70393"/>
            <a:ext cx="10972800" cy="438582"/>
          </a:xfrm>
        </p:spPr>
        <p:txBody>
          <a:bodyPr/>
          <a:lstStyle/>
          <a:p>
            <a:r>
              <a:rPr lang="en-US" dirty="0"/>
              <a:t>Example 09 – Uniaxial deformation of orthogonal </a:t>
            </a:r>
            <a:r>
              <a:rPr lang="en-US" dirty="0" err="1"/>
              <a:t>hBN</a:t>
            </a:r>
            <a:r>
              <a:rPr lang="en-US" dirty="0"/>
              <a:t> sheet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19213D-ADD3-3452-1A38-9E744E5426F8}"/>
              </a:ext>
            </a:extLst>
          </p:cNvPr>
          <p:cNvSpPr txBox="1"/>
          <p:nvPr/>
        </p:nvSpPr>
        <p:spPr>
          <a:xfrm>
            <a:off x="625034" y="6117246"/>
            <a:ext cx="10961224" cy="6463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dirty="0"/>
              <a:t>1. A. P. Sgouros et al., First-principles derived force field for h-BN monolayer nanostructures: Applications to sheets, nanotubes, and </a:t>
            </a:r>
            <a:r>
              <a:rPr lang="en-US" dirty="0" err="1"/>
              <a:t>nanotori</a:t>
            </a:r>
            <a:r>
              <a:rPr lang="en-US" dirty="0"/>
              <a:t>. PRB 111, 155443, 2019.</a:t>
            </a:r>
          </a:p>
        </p:txBody>
      </p:sp>
    </p:spTree>
    <p:extLst>
      <p:ext uri="{BB962C8B-B14F-4D97-AF65-F5344CB8AC3E}">
        <p14:creationId xmlns:p14="http://schemas.microsoft.com/office/powerpoint/2010/main" val="2749714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E1AC4-A1C3-072E-FE4A-F8EDABB72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FB504A-CABC-74C1-A390-04EBF4E2CC3F}"/>
              </a:ext>
            </a:extLst>
          </p:cNvPr>
          <p:cNvSpPr txBox="1"/>
          <p:nvPr/>
        </p:nvSpPr>
        <p:spPr>
          <a:xfrm>
            <a:off x="609600" y="1371600"/>
            <a:ext cx="10972800" cy="27084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200" dirty="0"/>
              <a:t>This example demonstrates how to calculate the stiffness matrix components of </a:t>
            </a:r>
            <a:r>
              <a:rPr lang="en-US" sz="2200" i="1" dirty="0" err="1"/>
              <a:t>h</a:t>
            </a:r>
            <a:r>
              <a:rPr lang="en-US" sz="2200" dirty="0" err="1"/>
              <a:t>BN</a:t>
            </a:r>
            <a:endParaRPr lang="en-US" sz="2200" dirty="0"/>
          </a:p>
          <a:p>
            <a:endParaRPr lang="en-US" sz="2200" b="1" dirty="0"/>
          </a:p>
          <a:p>
            <a:r>
              <a:rPr lang="en-US" sz="2200" b="1" dirty="0"/>
              <a:t>System: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200" dirty="0"/>
              <a:t>2D </a:t>
            </a:r>
            <a:r>
              <a:rPr lang="en-US" sz="2200" dirty="0" err="1"/>
              <a:t>hBN</a:t>
            </a:r>
            <a:r>
              <a:rPr lang="en-US" sz="2200" dirty="0"/>
              <a:t> crystal with 30x15 4-atom cells</a:t>
            </a:r>
          </a:p>
          <a:p>
            <a:endParaRPr lang="en-US" sz="2200" dirty="0"/>
          </a:p>
          <a:p>
            <a:r>
              <a:rPr lang="en-US" sz="2200" b="1" dirty="0"/>
              <a:t>Learning goals: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Introduction to material elasticity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Determine stiffness matrix components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5E2E06-A4FE-D99A-CCC3-90C468CB6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70393"/>
            <a:ext cx="10972800" cy="438582"/>
          </a:xfrm>
        </p:spPr>
        <p:txBody>
          <a:bodyPr/>
          <a:lstStyle/>
          <a:p>
            <a:r>
              <a:rPr lang="en-US" dirty="0"/>
              <a:t>Example 10 – Estimation of the stiffness matrix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CB290B-C454-C2A0-B0F4-ED19DB9D70F0}"/>
              </a:ext>
            </a:extLst>
          </p:cNvPr>
          <p:cNvSpPr txBox="1"/>
          <p:nvPr/>
        </p:nvSpPr>
        <p:spPr>
          <a:xfrm>
            <a:off x="625034" y="6117246"/>
            <a:ext cx="10961224" cy="6463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dirty="0"/>
              <a:t>1. A. P. Sgouros et al., First-principles derived force field for h-BN monolayer nanostructures: Applications to sheets, nanotubes, and </a:t>
            </a:r>
            <a:r>
              <a:rPr lang="en-US" dirty="0" err="1"/>
              <a:t>nanotori</a:t>
            </a:r>
            <a:r>
              <a:rPr lang="en-US" dirty="0"/>
              <a:t>. PRB 111, 155443, 2019.</a:t>
            </a:r>
          </a:p>
        </p:txBody>
      </p:sp>
    </p:spTree>
    <p:extLst>
      <p:ext uri="{BB962C8B-B14F-4D97-AF65-F5344CB8AC3E}">
        <p14:creationId xmlns:p14="http://schemas.microsoft.com/office/powerpoint/2010/main" val="593339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80F97-DC54-2793-BAE0-3B4A7D8B7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F63518-8885-A1A6-2E07-1589BEC9C9A8}"/>
              </a:ext>
            </a:extLst>
          </p:cNvPr>
          <p:cNvSpPr txBox="1"/>
          <p:nvPr/>
        </p:nvSpPr>
        <p:spPr>
          <a:xfrm>
            <a:off x="609600" y="1371600"/>
            <a:ext cx="10972800" cy="57554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200" dirty="0"/>
              <a:t>The 2D linear elastic equation</a:t>
            </a:r>
          </a:p>
          <a:p>
            <a:endParaRPr lang="en-US" sz="2200" dirty="0"/>
          </a:p>
          <a:p>
            <a:r>
              <a:rPr lang="en-US" sz="2200" dirty="0"/>
              <a:t>where </a:t>
            </a:r>
          </a:p>
          <a:p>
            <a:pPr defTabSz="1087438">
              <a:tabLst>
                <a:tab pos="517525" algn="l"/>
                <a:tab pos="803275" algn="l"/>
              </a:tabLst>
            </a:pPr>
            <a:r>
              <a:rPr lang="en-US" sz="2200" dirty="0"/>
              <a:t>	</a:t>
            </a:r>
            <a:r>
              <a:rPr lang="el-GR" sz="2200" b="1" dirty="0"/>
              <a:t>ϵ</a:t>
            </a:r>
            <a:r>
              <a:rPr lang="en-US" sz="2200" dirty="0"/>
              <a:t>	:	imposed strain tensor</a:t>
            </a:r>
          </a:p>
          <a:p>
            <a:pPr defTabSz="1087438">
              <a:tabLst>
                <a:tab pos="517525" algn="l"/>
                <a:tab pos="803275" algn="l"/>
              </a:tabLst>
            </a:pPr>
            <a:r>
              <a:rPr lang="en-US" sz="2200" dirty="0"/>
              <a:t>	</a:t>
            </a:r>
            <a:r>
              <a:rPr lang="el-GR" sz="2200" b="1" i="1" dirty="0"/>
              <a:t>σ</a:t>
            </a:r>
            <a:r>
              <a:rPr lang="el-GR" sz="2200" dirty="0"/>
              <a:t>	:	</a:t>
            </a:r>
            <a:r>
              <a:rPr lang="en-US" sz="2200" dirty="0"/>
              <a:t>resulting stress tensor</a:t>
            </a:r>
          </a:p>
          <a:p>
            <a:pPr defTabSz="1087438">
              <a:tabLst>
                <a:tab pos="517525" algn="l"/>
                <a:tab pos="803275" algn="l"/>
              </a:tabLst>
            </a:pPr>
            <a:r>
              <a:rPr lang="en-US" sz="2200" dirty="0"/>
              <a:t>	</a:t>
            </a:r>
            <a:r>
              <a:rPr lang="en-US" sz="2200" b="1" i="1" dirty="0"/>
              <a:t>C</a:t>
            </a:r>
            <a:r>
              <a:rPr lang="en-US" sz="2200" dirty="0"/>
              <a:t>	:	stiffness matrix</a:t>
            </a:r>
          </a:p>
          <a:p>
            <a:pPr defTabSz="1087438">
              <a:tabLst>
                <a:tab pos="517525" algn="l"/>
                <a:tab pos="803275" algn="l"/>
              </a:tabLst>
            </a:pPr>
            <a:r>
              <a:rPr lang="en-US" sz="2200" dirty="0"/>
              <a:t>Matrix form:</a:t>
            </a:r>
          </a:p>
          <a:p>
            <a:pPr defTabSz="1087438">
              <a:tabLst>
                <a:tab pos="517525" algn="l"/>
                <a:tab pos="803275" algn="l"/>
              </a:tabLst>
            </a:pPr>
            <a:endParaRPr lang="el-GR" sz="2200" dirty="0"/>
          </a:p>
          <a:p>
            <a:pPr defTabSz="1087438">
              <a:tabLst>
                <a:tab pos="517525" algn="l"/>
                <a:tab pos="803275" algn="l"/>
              </a:tabLst>
            </a:pPr>
            <a:endParaRPr lang="el-GR" sz="2200" dirty="0"/>
          </a:p>
          <a:p>
            <a:pPr defTabSz="1087438">
              <a:tabLst>
                <a:tab pos="517525" algn="l"/>
                <a:tab pos="803275" algn="l"/>
              </a:tabLst>
            </a:pPr>
            <a:endParaRPr lang="el-GR" sz="2200" dirty="0"/>
          </a:p>
          <a:p>
            <a:pPr defTabSz="1087438">
              <a:tabLst>
                <a:tab pos="517525" algn="l"/>
                <a:tab pos="803275" algn="l"/>
              </a:tabLst>
            </a:pPr>
            <a:endParaRPr lang="el-GR" sz="2200" dirty="0"/>
          </a:p>
          <a:p>
            <a:pPr defTabSz="1087438">
              <a:tabLst>
                <a:tab pos="517525" algn="l"/>
                <a:tab pos="803275" algn="l"/>
              </a:tabLst>
            </a:pPr>
            <a:r>
              <a:rPr lang="en-US" sz="2200" dirty="0"/>
              <a:t>Derivative definition of </a:t>
            </a:r>
            <a:r>
              <a:rPr lang="en-US" sz="2200" b="1" i="1" dirty="0"/>
              <a:t>C</a:t>
            </a:r>
            <a:r>
              <a:rPr lang="en-US" sz="2200" dirty="0"/>
              <a:t>:</a:t>
            </a:r>
          </a:p>
          <a:p>
            <a:pPr defTabSz="1087438">
              <a:tabLst>
                <a:tab pos="517525" algn="l"/>
                <a:tab pos="803275" algn="l"/>
              </a:tabLst>
            </a:pPr>
            <a:endParaRPr lang="en-US" sz="2200" dirty="0"/>
          </a:p>
          <a:p>
            <a:endParaRPr lang="en-US" sz="2200" b="1" dirty="0"/>
          </a:p>
          <a:p>
            <a:endParaRPr lang="en-US" sz="2200" b="1" dirty="0"/>
          </a:p>
          <a:p>
            <a:endParaRPr lang="en-US" sz="2200" b="1" dirty="0"/>
          </a:p>
          <a:p>
            <a:endParaRPr lang="en-US" sz="2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E458EB-C72F-0FF1-907C-58EB9B2557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373"/>
          <a:stretch>
            <a:fillRect/>
          </a:stretch>
        </p:blipFill>
        <p:spPr>
          <a:xfrm>
            <a:off x="981236" y="3763557"/>
            <a:ext cx="4303985" cy="95540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8772F69-ECC6-918E-FE7E-B00038DC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70393"/>
            <a:ext cx="10972800" cy="438582"/>
          </a:xfrm>
        </p:spPr>
        <p:txBody>
          <a:bodyPr/>
          <a:lstStyle/>
          <a:p>
            <a:r>
              <a:rPr lang="en-US" dirty="0"/>
              <a:t>Example 10 – Uniaxial deformation of orthogonal </a:t>
            </a:r>
            <a:r>
              <a:rPr lang="en-US" dirty="0" err="1"/>
              <a:t>hBN</a:t>
            </a:r>
            <a:r>
              <a:rPr lang="en-US" dirty="0"/>
              <a:t> sheet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2C3556-BBD8-3682-EC0E-E6E69A53A92D}"/>
              </a:ext>
            </a:extLst>
          </p:cNvPr>
          <p:cNvSpPr txBox="1"/>
          <p:nvPr/>
        </p:nvSpPr>
        <p:spPr>
          <a:xfrm>
            <a:off x="625034" y="6117246"/>
            <a:ext cx="10961224" cy="6463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dirty="0"/>
              <a:t>1. A. P. Sgouros et al., First-principles derived force field for h-BN monolayer nanostructures: Applications to sheets, nanotubes, and </a:t>
            </a:r>
            <a:r>
              <a:rPr lang="en-US" dirty="0" err="1"/>
              <a:t>nanotori</a:t>
            </a:r>
            <a:r>
              <a:rPr lang="en-US" dirty="0"/>
              <a:t>. PRB 111, 155443, 2019.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F9DA74-ADE7-8AD7-96D3-ADA6E5E55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199" y="1708141"/>
            <a:ext cx="803167" cy="3238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857B44-4AEC-57E8-F27F-174C5091DD4A}"/>
              </a:ext>
            </a:extLst>
          </p:cNvPr>
          <p:cNvSpPr txBox="1"/>
          <p:nvPr/>
        </p:nvSpPr>
        <p:spPr>
          <a:xfrm>
            <a:off x="1134836" y="5399705"/>
            <a:ext cx="6417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C</a:t>
            </a:r>
            <a:r>
              <a:rPr lang="el-GR" sz="2400" i="1" baseline="-25000" dirty="0" err="1"/>
              <a:t>αβγδ</a:t>
            </a:r>
            <a:r>
              <a:rPr lang="en-US" sz="2400" dirty="0"/>
              <a:t>​=∂ε</a:t>
            </a:r>
            <a:r>
              <a:rPr lang="el-GR" sz="2400" baseline="-25000" dirty="0" err="1"/>
              <a:t>γδ</a:t>
            </a:r>
            <a:r>
              <a:rPr lang="en-US" sz="2400" baseline="-25000" dirty="0"/>
              <a:t>​</a:t>
            </a:r>
            <a:r>
              <a:rPr lang="en-US" sz="2400" dirty="0"/>
              <a:t>/∂σ</a:t>
            </a:r>
            <a:r>
              <a:rPr lang="el-GR" sz="2400" baseline="-25000" dirty="0" err="1"/>
              <a:t>αβ</a:t>
            </a:r>
            <a:r>
              <a:rPr lang="el-GR" sz="2400" dirty="0"/>
              <a:t>|, </a:t>
            </a:r>
            <a:r>
              <a:rPr lang="el-GR" sz="2400" b="1" i="1" dirty="0"/>
              <a:t>ε</a:t>
            </a:r>
            <a:r>
              <a:rPr lang="el-GR" sz="2400" dirty="0">
                <a:latin typeface="Garamond" panose="02020404030301010803" pitchFamily="18" charset="0"/>
              </a:rPr>
              <a:t>→</a:t>
            </a:r>
            <a:r>
              <a:rPr lang="el-GR" sz="2400" dirty="0"/>
              <a:t>0</a:t>
            </a:r>
            <a:r>
              <a:rPr lang="en-US" sz="2400" dirty="0"/>
              <a:t>​ </a:t>
            </a:r>
          </a:p>
        </p:txBody>
      </p:sp>
    </p:spTree>
    <p:extLst>
      <p:ext uri="{BB962C8B-B14F-4D97-AF65-F5344CB8AC3E}">
        <p14:creationId xmlns:p14="http://schemas.microsoft.com/office/powerpoint/2010/main" val="2863213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CFA23-C70F-7A12-D3F8-182F63913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C5D2FA-CE7F-F9D1-FB9A-CCA741756C06}"/>
              </a:ext>
            </a:extLst>
          </p:cNvPr>
          <p:cNvSpPr txBox="1"/>
          <p:nvPr/>
        </p:nvSpPr>
        <p:spPr>
          <a:xfrm>
            <a:off x="609600" y="1371600"/>
            <a:ext cx="10972800" cy="29854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200" b="1" dirty="0"/>
              <a:t>Actions: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200" dirty="0"/>
              <a:t>Conduct</a:t>
            </a:r>
            <a:r>
              <a:rPr lang="el-GR" sz="2200" dirty="0"/>
              <a:t> </a:t>
            </a:r>
            <a:r>
              <a:rPr lang="en-US" sz="2200" dirty="0"/>
              <a:t>individual deformation experiments, each time perturbing a different component of the strain tensor.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200" dirty="0"/>
              <a:t>Calculate the corresponding stress-strain curves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200" dirty="0"/>
              <a:t>Calculate C</a:t>
            </a:r>
            <a:r>
              <a:rPr lang="el-GR" sz="2200" dirty="0" err="1"/>
              <a:t>αβγδ</a:t>
            </a:r>
            <a:r>
              <a:rPr lang="el-GR" sz="2200" dirty="0"/>
              <a:t>, </a:t>
            </a:r>
            <a:r>
              <a:rPr lang="en-US" sz="2200" dirty="0"/>
              <a:t>based on the derivative definition of C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200" dirty="0"/>
              <a:t>How do the obtained values compare to the analytic values from ref 1?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7663" algn="l"/>
              </a:tabLst>
            </a:pPr>
            <a:endParaRPr lang="en-US" sz="2200" dirty="0"/>
          </a:p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Notes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Voigt notation in 2D: </a:t>
            </a:r>
            <a:r>
              <a:rPr lang="en-US" sz="2000" i="1" dirty="0">
                <a:latin typeface="Arial" pitchFamily="34" charset="0"/>
                <a:cs typeface="Arial" pitchFamily="34" charset="0"/>
              </a:rPr>
              <a:t>xx →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1, </a:t>
            </a:r>
            <a:r>
              <a:rPr lang="en-US" sz="2000" i="1" dirty="0" err="1">
                <a:latin typeface="Arial" pitchFamily="34" charset="0"/>
                <a:cs typeface="Arial" pitchFamily="34" charset="0"/>
              </a:rPr>
              <a:t>yy</a:t>
            </a:r>
            <a:r>
              <a:rPr lang="en-US" sz="2000" i="1" dirty="0">
                <a:latin typeface="Arial" pitchFamily="34" charset="0"/>
                <a:cs typeface="Arial" pitchFamily="34" charset="0"/>
              </a:rPr>
              <a:t> →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2, </a:t>
            </a:r>
            <a:r>
              <a:rPr lang="en-US" sz="2000" i="1" dirty="0" err="1">
                <a:latin typeface="Arial" pitchFamily="34" charset="0"/>
                <a:cs typeface="Arial" pitchFamily="34" charset="0"/>
              </a:rPr>
              <a:t>xy</a:t>
            </a:r>
            <a:r>
              <a:rPr lang="en-US" sz="2000" i="1" dirty="0">
                <a:latin typeface="Arial" pitchFamily="34" charset="0"/>
                <a:cs typeface="Arial" pitchFamily="34" charset="0"/>
              </a:rPr>
              <a:t> →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D32C1F-5C02-AAF1-CB8F-D170EB88A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70393"/>
            <a:ext cx="10972800" cy="438582"/>
          </a:xfrm>
        </p:spPr>
        <p:txBody>
          <a:bodyPr/>
          <a:lstStyle/>
          <a:p>
            <a:r>
              <a:rPr lang="en-US" dirty="0"/>
              <a:t>Example 10 – Uniaxial deformation of orthogonal </a:t>
            </a:r>
            <a:r>
              <a:rPr lang="en-US" dirty="0" err="1"/>
              <a:t>hBN</a:t>
            </a:r>
            <a:r>
              <a:rPr lang="en-US" dirty="0"/>
              <a:t> sheet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13F40-FDB2-7A2B-836A-CF438B00E40A}"/>
              </a:ext>
            </a:extLst>
          </p:cNvPr>
          <p:cNvSpPr txBox="1"/>
          <p:nvPr/>
        </p:nvSpPr>
        <p:spPr>
          <a:xfrm>
            <a:off x="625034" y="6117246"/>
            <a:ext cx="10961224" cy="6463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dirty="0"/>
              <a:t>1. A. P. Sgouros et al., First-principles derived force field for h-BN monolayer nanostructures: Applications to sheets, nanotubes, and </a:t>
            </a:r>
            <a:r>
              <a:rPr lang="en-US" dirty="0" err="1"/>
              <a:t>nanotori</a:t>
            </a:r>
            <a:r>
              <a:rPr lang="en-US" dirty="0"/>
              <a:t>. PRB 111, 155443, 2019.</a:t>
            </a:r>
          </a:p>
        </p:txBody>
      </p:sp>
    </p:spTree>
    <p:extLst>
      <p:ext uri="{BB962C8B-B14F-4D97-AF65-F5344CB8AC3E}">
        <p14:creationId xmlns:p14="http://schemas.microsoft.com/office/powerpoint/2010/main" val="1993577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1A830-FF53-88E7-6C7C-52C606F80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304CFD-9004-E902-2FF9-E08E863BE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70393"/>
            <a:ext cx="10972800" cy="438582"/>
          </a:xfrm>
        </p:spPr>
        <p:txBody>
          <a:bodyPr/>
          <a:lstStyle/>
          <a:p>
            <a:r>
              <a:rPr lang="en-US" dirty="0"/>
              <a:t>Example 10 – Deformation: </a:t>
            </a:r>
            <a:r>
              <a:rPr lang="en-US" dirty="0" err="1"/>
              <a:t>x_const_y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23B14A-6C69-4B54-C4F6-8842EB8EA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76" y="1588974"/>
            <a:ext cx="4584589" cy="27983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FEB728-05E7-460A-4708-D0FE7012F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705" y="1621632"/>
            <a:ext cx="4584589" cy="279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96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F9D7C-3527-64D7-FD94-977D86F56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BFE17E-FA55-4096-B9DA-6E1D89591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70393"/>
            <a:ext cx="10972800" cy="438582"/>
          </a:xfrm>
        </p:spPr>
        <p:txBody>
          <a:bodyPr/>
          <a:lstStyle/>
          <a:p>
            <a:r>
              <a:rPr lang="en-US" dirty="0"/>
              <a:t>Example 10 – Deformation: </a:t>
            </a:r>
            <a:r>
              <a:rPr lang="en-US" dirty="0" err="1"/>
              <a:t>xy_shear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907578-C2CC-9EE4-65BA-0A8D41193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33" y="1588974"/>
            <a:ext cx="4584589" cy="279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64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0000"/>
        </a:solidFill>
      </a:spPr>
      <a:bodyPr rtlCol="0" anchor="ctr"/>
      <a:lstStyle>
        <a:defPPr algn="ctr">
          <a:defRPr dirty="0" err="1">
            <a:latin typeface="Bahnschrift" panose="020B0502040204020203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2400" dirty="0" err="1" smtClean="0">
            <a:latin typeface="Bahnschrift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MS25.potx" id="{62D7C9C1-80D9-47B9-87F1-385A35CC06E8}" vid="{0D38E590-0C35-46F3-A098-8DC1AA5D7F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4118</TotalTime>
  <Words>853</Words>
  <Application>Microsoft Office PowerPoint</Application>
  <PresentationFormat>Widescreen</PresentationFormat>
  <Paragraphs>123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Bahnschrift</vt:lpstr>
      <vt:lpstr>Courier New</vt:lpstr>
      <vt:lpstr>Garamond</vt:lpstr>
      <vt:lpstr>Office Theme</vt:lpstr>
      <vt:lpstr>A hands-on introduction to molecular dynamics with LAMMPS</vt:lpstr>
      <vt:lpstr>List of examples</vt:lpstr>
      <vt:lpstr>Example 08 – 3D Solid: Compute XRD</vt:lpstr>
      <vt:lpstr>Example 08 – 3D Solid: Compute XRD: Simulated radiation</vt:lpstr>
      <vt:lpstr>Example 08 – 3D Solid: Compute XRD: Fourier transform of RDF</vt:lpstr>
      <vt:lpstr>Example 08 – 3D Solid: Compute XRD</vt:lpstr>
      <vt:lpstr>Example 09 – Uniaxial deformation of orthogonal hBN sheet</vt:lpstr>
      <vt:lpstr>Example 09 – Uniaxial deformation of orthogonal hBN sheet</vt:lpstr>
      <vt:lpstr>Example 10 – Estimation of the stiffness matrix</vt:lpstr>
      <vt:lpstr>Example 10 – Uniaxial deformation of orthogonal hBN sheet</vt:lpstr>
      <vt:lpstr>Example 10 – Uniaxial deformation of orthogonal hBN sheet</vt:lpstr>
      <vt:lpstr>Example 10 – Deformation: x_const_y</vt:lpstr>
      <vt:lpstr>Example 10 – Deformation: xy_shear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Atomistic Force Fields from First-Principles Calculations: Classical and Machine-learning frameworks</dc:title>
  <dc:creator>Αριστοτέλης Σγούρος</dc:creator>
  <cp:lastModifiedBy>Αριστοτέλης Σγούρος</cp:lastModifiedBy>
  <cp:revision>296</cp:revision>
  <dcterms:created xsi:type="dcterms:W3CDTF">2025-12-02T15:16:07Z</dcterms:created>
  <dcterms:modified xsi:type="dcterms:W3CDTF">2026-07-08T16:44:23Z</dcterms:modified>
</cp:coreProperties>
</file>